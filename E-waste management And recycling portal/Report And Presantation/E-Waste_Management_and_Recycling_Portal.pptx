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76" r:id="rId7"/>
    <p:sldId id="261" r:id="rId8"/>
    <p:sldId id="273" r:id="rId9"/>
    <p:sldId id="274" r:id="rId10"/>
    <p:sldId id="275" r:id="rId11"/>
    <p:sldId id="262" r:id="rId12"/>
    <p:sldId id="263" r:id="rId13"/>
    <p:sldId id="264" r:id="rId14"/>
    <p:sldId id="265" r:id="rId15"/>
    <p:sldId id="266" r:id="rId16"/>
    <p:sldId id="267" r:id="rId17"/>
    <p:sldId id="268" r:id="rId18"/>
    <p:sldId id="269" r:id="rId19"/>
    <p:sldId id="270" r:id="rId20"/>
    <p:sldId id="271" r:id="rId21"/>
    <p:sldId id="277" r:id="rId22"/>
    <p:sldId id="272" r:id="rId2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4BA401-593E-4C8B-9086-5FB89E97FAB1}" v="1" dt="2026-10-19T05:41:28.244"/>
  </p1510:revLst>
</p1510:revInfo>
</file>

<file path=ppt/tableStyles.xml><?xml version="1.0" encoding="utf-8"?>
<a:tblStyleLst xmlns:a="http://schemas.openxmlformats.org/drawingml/2006/main" def="{98077A5B-8C0D-40D8-8557-44EC33DBB8F6}">
  <a:tblStyle styleId="{98077A5B-8C0D-40D8-8557-44EC33DBB8F6}" styleName="Table_0">
    <a:wholeTbl>
      <a:tcTxStyle b="off" i="off">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Times New Roman"/>
          <a:ea typeface="Times New Roman"/>
          <a:cs typeface="Times New Roman"/>
        </a:font>
        <a:schemeClr val="lt1"/>
      </a:tcTxStyle>
      <a:tcStyle>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sh Patil" userId="5c2b0e6b9c81eb74" providerId="LiveId" clId="{9C6D779D-7064-44AC-AEE1-AE927C3A5968}"/>
    <pc:docChg chg="undo custSel modSld">
      <pc:chgData name="Manish Patil" userId="5c2b0e6b9c81eb74" providerId="LiveId" clId="{9C6D779D-7064-44AC-AEE1-AE927C3A5968}" dt="2026-10-19T05:41:28.271" v="179" actId="27636"/>
      <pc:docMkLst>
        <pc:docMk/>
      </pc:docMkLst>
      <pc:sldChg chg="modSp mod">
        <pc:chgData name="Manish Patil" userId="5c2b0e6b9c81eb74" providerId="LiveId" clId="{9C6D779D-7064-44AC-AEE1-AE927C3A5968}" dt="2026-10-19T04:57:48.163" v="142" actId="20577"/>
        <pc:sldMkLst>
          <pc:docMk/>
          <pc:sldMk cId="0" sldId="256"/>
        </pc:sldMkLst>
        <pc:graphicFrameChg chg="modGraphic">
          <ac:chgData name="Manish Patil" userId="5c2b0e6b9c81eb74" providerId="LiveId" clId="{9C6D779D-7064-44AC-AEE1-AE927C3A5968}" dt="2026-10-19T04:57:48.163" v="142" actId="20577"/>
          <ac:graphicFrameMkLst>
            <pc:docMk/>
            <pc:sldMk cId="0" sldId="256"/>
            <ac:graphicFrameMk id="504" creationId="{00000000-0000-0000-0000-000000000000}"/>
          </ac:graphicFrameMkLst>
        </pc:graphicFrameChg>
      </pc:sldChg>
      <pc:sldChg chg="modSp mod">
        <pc:chgData name="Manish Patil" userId="5c2b0e6b9c81eb74" providerId="LiveId" clId="{9C6D779D-7064-44AC-AEE1-AE927C3A5968}" dt="2026-10-16T07:30:33.381" v="78" actId="20577"/>
        <pc:sldMkLst>
          <pc:docMk/>
          <pc:sldMk cId="0" sldId="257"/>
        </pc:sldMkLst>
        <pc:spChg chg="mod">
          <ac:chgData name="Manish Patil" userId="5c2b0e6b9c81eb74" providerId="LiveId" clId="{9C6D779D-7064-44AC-AEE1-AE927C3A5968}" dt="2026-10-16T07:30:33.381" v="78" actId="20577"/>
          <ac:spMkLst>
            <pc:docMk/>
            <pc:sldMk cId="0" sldId="257"/>
            <ac:spMk id="510" creationId="{00000000-0000-0000-0000-000000000000}"/>
          </ac:spMkLst>
        </pc:spChg>
      </pc:sldChg>
      <pc:sldChg chg="modSp mod">
        <pc:chgData name="Manish Patil" userId="5c2b0e6b9c81eb74" providerId="LiveId" clId="{9C6D779D-7064-44AC-AEE1-AE927C3A5968}" dt="2026-10-19T04:58:01.672" v="150" actId="20577"/>
        <pc:sldMkLst>
          <pc:docMk/>
          <pc:sldMk cId="0" sldId="260"/>
        </pc:sldMkLst>
        <pc:spChg chg="mod">
          <ac:chgData name="Manish Patil" userId="5c2b0e6b9c81eb74" providerId="LiveId" clId="{9C6D779D-7064-44AC-AEE1-AE927C3A5968}" dt="2026-10-19T04:58:01.672" v="150" actId="20577"/>
          <ac:spMkLst>
            <pc:docMk/>
            <pc:sldMk cId="0" sldId="260"/>
            <ac:spMk id="531" creationId="{00000000-0000-0000-0000-000000000000}"/>
          </ac:spMkLst>
        </pc:spChg>
      </pc:sldChg>
      <pc:sldChg chg="modSp mod">
        <pc:chgData name="Manish Patil" userId="5c2b0e6b9c81eb74" providerId="LiveId" clId="{9C6D779D-7064-44AC-AEE1-AE927C3A5968}" dt="2026-10-19T05:41:28.244" v="178"/>
        <pc:sldMkLst>
          <pc:docMk/>
          <pc:sldMk cId="0" sldId="264"/>
        </pc:sldMkLst>
        <pc:spChg chg="mod">
          <ac:chgData name="Manish Patil" userId="5c2b0e6b9c81eb74" providerId="LiveId" clId="{9C6D779D-7064-44AC-AEE1-AE927C3A5968}" dt="2026-10-19T05:41:28.244" v="178"/>
          <ac:spMkLst>
            <pc:docMk/>
            <pc:sldMk cId="0" sldId="264"/>
            <ac:spMk id="560" creationId="{00000000-0000-0000-0000-000000000000}"/>
          </ac:spMkLst>
        </pc:spChg>
      </pc:sldChg>
      <pc:sldChg chg="delSp modSp mod">
        <pc:chgData name="Manish Patil" userId="5c2b0e6b9c81eb74" providerId="LiveId" clId="{9C6D779D-7064-44AC-AEE1-AE927C3A5968}" dt="2026-10-16T07:31:19.193" v="91" actId="478"/>
        <pc:sldMkLst>
          <pc:docMk/>
          <pc:sldMk cId="0" sldId="267"/>
        </pc:sldMkLst>
        <pc:graphicFrameChg chg="mod">
          <ac:chgData name="Manish Patil" userId="5c2b0e6b9c81eb74" providerId="LiveId" clId="{9C6D779D-7064-44AC-AEE1-AE927C3A5968}" dt="2026-10-16T07:31:05.471" v="89" actId="1036"/>
          <ac:graphicFrameMkLst>
            <pc:docMk/>
            <pc:sldMk cId="0" sldId="267"/>
            <ac:graphicFrameMk id="914" creationId="{00000000-0000-0000-0000-000000000000}"/>
          </ac:graphicFrameMkLst>
        </pc:graphicFrameChg>
      </pc:sldChg>
      <pc:sldChg chg="delSp mod">
        <pc:chgData name="Manish Patil" userId="5c2b0e6b9c81eb74" providerId="LiveId" clId="{9C6D779D-7064-44AC-AEE1-AE927C3A5968}" dt="2026-10-16T07:32:33.078" v="92" actId="478"/>
        <pc:sldMkLst>
          <pc:docMk/>
          <pc:sldMk cId="0" sldId="268"/>
        </pc:sldMkLst>
      </pc:sldChg>
      <pc:sldChg chg="modSp mod">
        <pc:chgData name="Manish Patil" userId="5c2b0e6b9c81eb74" providerId="LiveId" clId="{9C6D779D-7064-44AC-AEE1-AE927C3A5968}" dt="2026-10-16T07:25:28.038" v="59" actId="2710"/>
        <pc:sldMkLst>
          <pc:docMk/>
          <pc:sldMk cId="0" sldId="270"/>
        </pc:sldMkLst>
        <pc:spChg chg="mod">
          <ac:chgData name="Manish Patil" userId="5c2b0e6b9c81eb74" providerId="LiveId" clId="{9C6D779D-7064-44AC-AEE1-AE927C3A5968}" dt="2026-10-16T07:25:28.038" v="59" actId="2710"/>
          <ac:spMkLst>
            <pc:docMk/>
            <pc:sldMk cId="0" sldId="270"/>
            <ac:spMk id="602" creationId="{00000000-0000-0000-0000-000000000000}"/>
          </ac:spMkLst>
        </pc:spChg>
      </pc:sldChg>
      <pc:sldChg chg="modSp mod">
        <pc:chgData name="Manish Patil" userId="5c2b0e6b9c81eb74" providerId="LiveId" clId="{9C6D779D-7064-44AC-AEE1-AE927C3A5968}" dt="2026-10-19T05:41:28.271" v="179" actId="27636"/>
        <pc:sldMkLst>
          <pc:docMk/>
          <pc:sldMk cId="0" sldId="271"/>
        </pc:sldMkLst>
        <pc:spChg chg="mod">
          <ac:chgData name="Manish Patil" userId="5c2b0e6b9c81eb74" providerId="LiveId" clId="{9C6D779D-7064-44AC-AEE1-AE927C3A5968}" dt="2026-10-19T04:59:03.223" v="166" actId="20577"/>
          <ac:spMkLst>
            <pc:docMk/>
            <pc:sldMk cId="0" sldId="271"/>
            <ac:spMk id="608" creationId="{00000000-0000-0000-0000-000000000000}"/>
          </ac:spMkLst>
        </pc:spChg>
        <pc:spChg chg="mod">
          <ac:chgData name="Manish Patil" userId="5c2b0e6b9c81eb74" providerId="LiveId" clId="{9C6D779D-7064-44AC-AEE1-AE927C3A5968}" dt="2026-10-19T05:41:28.271" v="179" actId="27636"/>
          <ac:spMkLst>
            <pc:docMk/>
            <pc:sldMk cId="0" sldId="271"/>
            <ac:spMk id="609" creationId="{00000000-0000-0000-0000-000000000000}"/>
          </ac:spMkLst>
        </pc:spChg>
      </pc:sldChg>
      <pc:sldChg chg="modSp mod">
        <pc:chgData name="Manish Patil" userId="5c2b0e6b9c81eb74" providerId="LiveId" clId="{9C6D779D-7064-44AC-AEE1-AE927C3A5968}" dt="2026-10-16T07:19:15.556" v="7" actId="27636"/>
        <pc:sldMkLst>
          <pc:docMk/>
          <pc:sldMk cId="0" sldId="274"/>
        </pc:sldMkLst>
        <pc:spChg chg="mod">
          <ac:chgData name="Manish Patil" userId="5c2b0e6b9c81eb74" providerId="LiveId" clId="{9C6D779D-7064-44AC-AEE1-AE927C3A5968}" dt="2026-10-16T07:19:15.524" v="4" actId="27636"/>
          <ac:spMkLst>
            <pc:docMk/>
            <pc:sldMk cId="0" sldId="274"/>
            <ac:spMk id="907" creationId="{00000000-0000-0000-0000-000000000000}"/>
          </ac:spMkLst>
        </pc:spChg>
        <pc:spChg chg="mod">
          <ac:chgData name="Manish Patil" userId="5c2b0e6b9c81eb74" providerId="LiveId" clId="{9C6D779D-7064-44AC-AEE1-AE927C3A5968}" dt="2026-10-16T07:19:15.556" v="7" actId="27636"/>
          <ac:spMkLst>
            <pc:docMk/>
            <pc:sldMk cId="0" sldId="274"/>
            <ac:spMk id="908" creationId="{00000000-0000-0000-0000-000000000000}"/>
          </ac:spMkLst>
        </pc:spChg>
        <pc:spChg chg="mod">
          <ac:chgData name="Manish Patil" userId="5c2b0e6b9c81eb74" providerId="LiveId" clId="{9C6D779D-7064-44AC-AEE1-AE927C3A5968}" dt="2026-10-16T07:19:15.545" v="6" actId="27636"/>
          <ac:spMkLst>
            <pc:docMk/>
            <pc:sldMk cId="0" sldId="274"/>
            <ac:spMk id="910" creationId="{00000000-0000-0000-0000-000000000000}"/>
          </ac:spMkLst>
        </pc:spChg>
        <pc:spChg chg="mod">
          <ac:chgData name="Manish Patil" userId="5c2b0e6b9c81eb74" providerId="LiveId" clId="{9C6D779D-7064-44AC-AEE1-AE927C3A5968}" dt="2026-10-16T07:19:15.535" v="5" actId="27636"/>
          <ac:spMkLst>
            <pc:docMk/>
            <pc:sldMk cId="0" sldId="274"/>
            <ac:spMk id="911" creationId="{00000000-0000-0000-0000-000000000000}"/>
          </ac:spMkLst>
        </pc:spChg>
      </pc:sldChg>
      <pc:sldChg chg="modSp mod">
        <pc:chgData name="Manish Patil" userId="5c2b0e6b9c81eb74" providerId="LiveId" clId="{9C6D779D-7064-44AC-AEE1-AE927C3A5968}" dt="2026-10-19T04:58:11.276" v="158" actId="20577"/>
        <pc:sldMkLst>
          <pc:docMk/>
          <pc:sldMk cId="0" sldId="276"/>
        </pc:sldMkLst>
        <pc:spChg chg="mod">
          <ac:chgData name="Manish Patil" userId="5c2b0e6b9c81eb74" providerId="LiveId" clId="{9C6D779D-7064-44AC-AEE1-AE927C3A5968}" dt="2026-10-19T04:58:11.276" v="158" actId="20577"/>
          <ac:spMkLst>
            <pc:docMk/>
            <pc:sldMk cId="0" sldId="276"/>
            <ac:spMk id="531" creationId="{00000000-0000-0000-0000-000000000000}"/>
          </ac:spMkLst>
        </pc:spChg>
      </pc:sldChg>
      <pc:sldChg chg="modSp mod">
        <pc:chgData name="Manish Patil" userId="5c2b0e6b9c81eb74" providerId="LiveId" clId="{9C6D779D-7064-44AC-AEE1-AE927C3A5968}" dt="2026-10-19T04:59:11.001" v="174" actId="20577"/>
        <pc:sldMkLst>
          <pc:docMk/>
          <pc:sldMk cId="0" sldId="277"/>
        </pc:sldMkLst>
        <pc:spChg chg="mod">
          <ac:chgData name="Manish Patil" userId="5c2b0e6b9c81eb74" providerId="LiveId" clId="{9C6D779D-7064-44AC-AEE1-AE927C3A5968}" dt="2026-10-19T04:59:11.001" v="174" actId="20577"/>
          <ac:spMkLst>
            <pc:docMk/>
            <pc:sldMk cId="0" sldId="277"/>
            <ac:spMk id="60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easydmarc.com/tools/phishing-url" TargetMode="External"/><Relationship Id="rId4" Type="http://schemas.openxmlformats.org/officeDocument/2006/relationships/hyperlink" Target="https://zvelo.com/phishing-detection-in-depth/" TargetMode="External"/><Relationship Id="rId5" Type="http://schemas.openxmlformats.org/officeDocument/2006/relationships/hyperlink" Target="https://zvelo.com/phishing-detection-in-depth/https:/en.wikipedia.org/wiki/Phish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1037444262"/>
              </p:ext>
            </p:extLst>
          </p:nvPr>
        </p:nvGraphicFramePr>
        <p:xfrm>
          <a:off x="228600" y="304800"/>
          <a:ext cx="8639525" cy="5994285"/>
        </p:xfrm>
        <a:graphic>
          <a:graphicData uri="http://schemas.openxmlformats.org/drawingml/2006/table">
            <a:tbl>
              <a:tblPr firstRow="1" bandRow="1">
                <a:noFill/>
                <a:tableStyleId>{98077A5B-8C0D-40D8-8557-44EC33DBB8F6}</a:tableStyleId>
              </a:tblPr>
              <a:tblGrid>
                <a:gridCol w="1476725">
                  <a:extLst>
                    <a:ext uri="{9D8B030D-6E8A-4147-A177-3AD203B41FA5}">
                      <a16:colId xmlns:a16="http://schemas.microsoft.com/office/drawing/2014/main" val="20000"/>
                    </a:ext>
                  </a:extLst>
                </a:gridCol>
                <a:gridCol w="3520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25">
                  <a:extLst>
                    <a:ext uri="{9D8B030D-6E8A-4147-A177-3AD203B41FA5}">
                      <a16:colId xmlns:a16="http://schemas.microsoft.com/office/drawing/2014/main" val="20003"/>
                    </a:ext>
                  </a:extLst>
                </a:gridCol>
              </a:tblGrid>
              <a:tr h="1752600">
                <a:tc>
                  <a:txBody>
                    <a:bodyPr/>
                    <a:lstStyle/>
                    <a:p>
                      <a:pPr marL="0" marR="0" lvl="0" indent="0" algn="ctr" rtl="0">
                        <a:spcBef>
                          <a:spcPts val="0"/>
                        </a:spcBef>
                        <a:spcAft>
                          <a:spcPts val="0"/>
                        </a:spcAft>
                        <a:buNone/>
                      </a:pPr>
                      <a:endParaRPr sz="2200"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dirty="0">
                          <a:solidFill>
                            <a:schemeClr val="lt1"/>
                          </a:solidFill>
                        </a:rPr>
                        <a:t>S.S.V.P.S’s B. S. </a:t>
                      </a:r>
                      <a:r>
                        <a:rPr lang="en-US" sz="2800" u="none" strike="noStrike" cap="none" dirty="0" err="1">
                          <a:solidFill>
                            <a:schemeClr val="lt1"/>
                          </a:solidFill>
                        </a:rPr>
                        <a:t>Deore</a:t>
                      </a:r>
                      <a:r>
                        <a:rPr lang="en-US" sz="2800" u="none" strike="noStrike" cap="none" dirty="0">
                          <a:solidFill>
                            <a:schemeClr val="lt1"/>
                          </a:solidFill>
                        </a:rPr>
                        <a:t> Polytechnic, Dhule</a:t>
                      </a:r>
                      <a:endParaRPr sz="2800" u="none" strike="noStrike" cap="none" dirty="0">
                        <a:solidFill>
                          <a:schemeClr val="lt1"/>
                        </a:solidFill>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dirty="0">
                          <a:solidFill>
                            <a:schemeClr val="lt1"/>
                          </a:solidFill>
                        </a:rPr>
                        <a:t>Department of Computer Engineering</a:t>
                      </a:r>
                      <a:endParaRPr dirty="0"/>
                    </a:p>
                    <a:p>
                      <a:pPr marL="0" marR="0" lvl="0" indent="0" algn="ctr" rtl="0">
                        <a:spcBef>
                          <a:spcPts val="0"/>
                        </a:spcBef>
                        <a:spcAft>
                          <a:spcPts val="0"/>
                        </a:spcAft>
                        <a:buNone/>
                      </a:pPr>
                      <a:endParaRPr lang="en-US" sz="3200" b="0" i="1" u="none" strike="noStrike" cap="none" dirty="0">
                        <a:solidFill>
                          <a:schemeClr val="lt1"/>
                        </a:solidFill>
                      </a:endParaRPr>
                    </a:p>
                    <a:p>
                      <a:pPr marL="0" marR="0" lvl="0" indent="0" algn="ctr" rtl="0">
                        <a:spcBef>
                          <a:spcPts val="0"/>
                        </a:spcBef>
                        <a:spcAft>
                          <a:spcPts val="0"/>
                        </a:spcAft>
                        <a:buNone/>
                      </a:pPr>
                      <a:r>
                        <a:rPr lang="en-US" sz="3200" b="0" i="1" u="none" strike="noStrike" cap="none" dirty="0">
                          <a:solidFill>
                            <a:schemeClr val="lt1"/>
                          </a:solidFill>
                        </a:rPr>
                        <a:t>Academic Year : </a:t>
                      </a:r>
                      <a:r>
                        <a:rPr lang="en-US" sz="3200" b="0" i="1" dirty="0"/>
                        <a:t>2026-2027</a:t>
                      </a:r>
                      <a:endParaRPr sz="3200" b="0" i="1"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3225">
                <a:tc gridSpan="4">
                  <a:txBody>
                    <a:bodyPr/>
                    <a:lstStyle/>
                    <a:p>
                      <a:pPr marL="0" marR="0" lvl="0" indent="0" algn="ctr" rtl="0">
                        <a:spcBef>
                          <a:spcPts val="0"/>
                        </a:spcBef>
                        <a:spcAft>
                          <a:spcPts val="0"/>
                        </a:spcAft>
                        <a:buNone/>
                      </a:pPr>
                      <a:r>
                        <a:rPr lang="en-US" sz="2800" b="1" u="none" strike="noStrike" cap="none">
                          <a:solidFill>
                            <a:srgbClr val="002060"/>
                          </a:solidFill>
                          <a:latin typeface="Times New Roman"/>
                          <a:ea typeface="Times New Roman"/>
                          <a:cs typeface="Times New Roman"/>
                          <a:sym typeface="Times New Roman"/>
                        </a:rPr>
                        <a:t>SEMINAR AND PROJECT INITIATION COURSE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88550">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a:solidFill>
                            <a:srgbClr val="FF0000"/>
                          </a:solidFill>
                        </a:rPr>
                        <a:t>Sem : CO 5 K</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400" b="1" u="none" strike="noStrike" cap="none">
                          <a:solidFill>
                            <a:srgbClr val="002060"/>
                          </a:solidFill>
                          <a:latin typeface="Times New Roman"/>
                          <a:ea typeface="Times New Roman"/>
                          <a:cs typeface="Times New Roman"/>
                          <a:sym typeface="Times New Roman"/>
                        </a:rPr>
                        <a:t>SPI – 315003</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i="0" dirty="0">
                          <a:solidFill>
                            <a:srgbClr val="FF0000"/>
                          </a:solidFill>
                          <a:latin typeface="Times New Roman"/>
                          <a:ea typeface="Times New Roman"/>
                          <a:cs typeface="Times New Roman"/>
                        </a:rPr>
                        <a:t>Date  : 19/10/2026</a:t>
                      </a:r>
                      <a:endParaRPr sz="2100" b="1" u="none" strike="noStrike" cap="none" dirty="0">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8550">
                <a:tc gridSpan="4">
                  <a:txBody>
                    <a:bodyPr/>
                    <a:lstStyle/>
                    <a:p>
                      <a:pPr marL="0" marR="0" lvl="0" indent="0" algn="l" rtl="0">
                        <a:spcBef>
                          <a:spcPts val="0"/>
                        </a:spcBef>
                        <a:spcAft>
                          <a:spcPts val="0"/>
                        </a:spcAft>
                        <a:buNone/>
                      </a:pPr>
                      <a:r>
                        <a:rPr lang="en-US" sz="2400" b="1" u="none" strike="noStrike" cap="none" dirty="0">
                          <a:solidFill>
                            <a:schemeClr val="dk2"/>
                          </a:solidFill>
                        </a:rPr>
                        <a:t>Topic :</a:t>
                      </a:r>
                      <a:r>
                        <a:rPr lang="en-US" sz="2400" b="1" i="0" dirty="0">
                          <a:solidFill>
                            <a:srgbClr val="1F3864"/>
                          </a:solidFill>
                          <a:latin typeface="Times New Roman"/>
                          <a:ea typeface="Times New Roman"/>
                          <a:cs typeface="Times New Roman"/>
                        </a:rPr>
                        <a:t> E-Waste Management and Recycling Portal</a:t>
                      </a:r>
                      <a:endParaRPr sz="2400" b="1" u="none" strike="noStrike" cap="none" dirty="0">
                        <a:solidFill>
                          <a:srgbClr val="0070C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88550">
                <a:tc gridSpan="2">
                  <a:txBody>
                    <a:bodyPr/>
                    <a:lstStyle/>
                    <a:p>
                      <a:pPr marL="0" marR="0" lvl="0" indent="0" algn="ctr" rtl="0">
                        <a:spcBef>
                          <a:spcPts val="0"/>
                        </a:spcBef>
                        <a:spcAft>
                          <a:spcPts val="0"/>
                        </a:spcAft>
                        <a:buNone/>
                      </a:pPr>
                      <a:r>
                        <a:rPr lang="en-US" sz="2400" b="1" u="none" strike="noStrike" cap="none"/>
                        <a:t>Roll No.</a:t>
                      </a:r>
                      <a:endParaRPr sz="2400" b="1"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400" b="1" u="none" strike="noStrike" cap="none"/>
                        <a:t>Name of Student</a:t>
                      </a:r>
                      <a:endParaRPr sz="2400" b="1"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488550">
                <a:tc gridSpan="2">
                  <a:txBody>
                    <a:bodyPr/>
                    <a:lstStyle/>
                    <a:p>
                      <a:pPr marL="0" marR="0" lvl="0" indent="0" algn="ctr" rtl="0">
                        <a:spcBef>
                          <a:spcPts val="0"/>
                        </a:spcBef>
                        <a:spcAft>
                          <a:spcPts val="0"/>
                        </a:spcAft>
                        <a:buNone/>
                      </a:pPr>
                      <a:r>
                        <a:rPr lang="en-US" sz="2200" b="0" i="0" dirty="0">
                          <a:solidFill>
                            <a:srgbClr val="000000"/>
                          </a:solidFill>
                          <a:latin typeface="Times New Roman"/>
                          <a:ea typeface="Times New Roman"/>
                          <a:cs typeface="Times New Roman"/>
                        </a:rPr>
                        <a:t>10</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200" b="0" i="0">
                          <a:solidFill>
                            <a:srgbClr val="000000"/>
                          </a:solidFill>
                          <a:latin typeface="Times New Roman"/>
                          <a:ea typeface="Times New Roman"/>
                          <a:cs typeface="Times New Roman"/>
                        </a:rPr>
                        <a:t>Tejas Barve</a:t>
                      </a:r>
                      <a:endParaRPr sz="18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488550">
                <a:tc gridSpan="2">
                  <a:txBody>
                    <a:bodyPr/>
                    <a:lstStyle/>
                    <a:p>
                      <a:pPr marL="0" marR="0" lvl="0" indent="0" algn="ctr" rtl="0">
                        <a:spcBef>
                          <a:spcPts val="0"/>
                        </a:spcBef>
                        <a:spcAft>
                          <a:spcPts val="0"/>
                        </a:spcAft>
                        <a:buNone/>
                      </a:pPr>
                      <a:r>
                        <a:rPr lang="en-US" sz="2200" b="0" i="0">
                          <a:solidFill>
                            <a:srgbClr val="000000"/>
                          </a:solidFill>
                          <a:latin typeface="Times New Roman"/>
                          <a:ea typeface="Times New Roman"/>
                          <a:cs typeface="Times New Roman"/>
                        </a:rPr>
                        <a:t>12</a:t>
                      </a:r>
                      <a:endParaRPr sz="20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200" b="0" i="0">
                          <a:solidFill>
                            <a:srgbClr val="000000"/>
                          </a:solidFill>
                          <a:latin typeface="Times New Roman"/>
                          <a:ea typeface="Times New Roman"/>
                          <a:cs typeface="Times New Roman"/>
                        </a:rPr>
                        <a:t>Nikhil Bhadane</a:t>
                      </a:r>
                      <a:endParaRPr sz="18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488550">
                <a:tc gridSpan="2">
                  <a:txBody>
                    <a:bodyPr/>
                    <a:lstStyle/>
                    <a:p>
                      <a:pPr marL="0" marR="0" lvl="0" indent="0" algn="ctr" rtl="0">
                        <a:spcBef>
                          <a:spcPts val="0"/>
                        </a:spcBef>
                        <a:spcAft>
                          <a:spcPts val="0"/>
                        </a:spcAft>
                        <a:buNone/>
                      </a:pPr>
                      <a:r>
                        <a:rPr lang="en-US" sz="2200" b="0" i="0">
                          <a:solidFill>
                            <a:srgbClr val="000000"/>
                          </a:solidFill>
                          <a:latin typeface="Times New Roman"/>
                          <a:ea typeface="Times New Roman"/>
                          <a:cs typeface="Times New Roman"/>
                        </a:rPr>
                        <a:t>13</a:t>
                      </a:r>
                      <a:endParaRPr sz="2200" b="1">
                        <a:solidFill>
                          <a:schemeClr val="dk2"/>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200" b="0" i="0">
                          <a:solidFill>
                            <a:srgbClr val="000000"/>
                          </a:solidFill>
                          <a:latin typeface="Times New Roman"/>
                          <a:ea typeface="Times New Roman"/>
                          <a:cs typeface="Times New Roman"/>
                        </a:rPr>
                        <a:t>Kunal Bhamre</a:t>
                      </a:r>
                      <a:endParaRPr sz="18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r h="488550">
                <a:tc gridSpan="2">
                  <a:txBody>
                    <a:bodyPr/>
                    <a:lstStyle/>
                    <a:p>
                      <a:pPr marL="0" marR="0" lvl="0" indent="0" algn="ctr" rtl="0">
                        <a:spcBef>
                          <a:spcPts val="0"/>
                        </a:spcBef>
                        <a:spcAft>
                          <a:spcPts val="0"/>
                        </a:spcAft>
                        <a:buNone/>
                      </a:pPr>
                      <a:r>
                        <a:rPr lang="en-US" sz="2200" b="0" i="0" dirty="0">
                          <a:solidFill>
                            <a:srgbClr val="000000"/>
                          </a:solidFill>
                          <a:latin typeface="Times New Roman"/>
                          <a:cs typeface="Times New Roman"/>
                        </a:rPr>
                        <a:t>18</a:t>
                      </a:r>
                      <a:endParaRPr sz="2200" b="1" dirty="0">
                        <a:solidFill>
                          <a:schemeClr val="dk2"/>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200" b="0" i="0" dirty="0">
                          <a:solidFill>
                            <a:srgbClr val="000000"/>
                          </a:solidFill>
                          <a:latin typeface="Times New Roman"/>
                          <a:ea typeface="Times New Roman"/>
                          <a:cs typeface="Times New Roman"/>
                        </a:rPr>
                        <a:t>Keshav Chaudhari</a:t>
                      </a:r>
                      <a:endParaRPr sz="18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8"/>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81000" y="457200"/>
            <a:ext cx="1219200" cy="16272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514350" lvl="0" indent="-483870" algn="l" rtl="0">
              <a:spcBef>
                <a:spcPts val="496"/>
              </a:spcBef>
              <a:spcAft>
                <a:spcPts val="0"/>
              </a:spcAft>
              <a:buClr>
                <a:schemeClr val="dk1"/>
              </a:buClr>
              <a:buSzPct val="100000"/>
              <a:buChar char="•"/>
            </a:pPr>
            <a:r>
              <a:rPr lang="en-US" dirty="0"/>
              <a:t>Abstract </a:t>
            </a:r>
            <a:endParaRPr dirty="0"/>
          </a:p>
          <a:p>
            <a:pPr marL="514350" lvl="0" indent="-483870" algn="l" rtl="0">
              <a:spcBef>
                <a:spcPts val="496"/>
              </a:spcBef>
              <a:spcAft>
                <a:spcPts val="0"/>
              </a:spcAft>
              <a:buClr>
                <a:schemeClr val="dk1"/>
              </a:buClr>
              <a:buSzPct val="100000"/>
              <a:buFont typeface="Arial"/>
              <a:buAutoNum type="arabicPeriod"/>
            </a:pPr>
            <a:r>
              <a:rPr lang="en-US" dirty="0"/>
              <a:t>Introduction</a:t>
            </a:r>
            <a:endParaRPr dirty="0"/>
          </a:p>
          <a:p>
            <a:pPr marL="514350" lvl="0" indent="-483870" algn="l" rtl="0">
              <a:spcBef>
                <a:spcPts val="496"/>
              </a:spcBef>
              <a:spcAft>
                <a:spcPts val="0"/>
              </a:spcAft>
              <a:buClr>
                <a:schemeClr val="dk1"/>
              </a:buClr>
              <a:buSzPct val="100000"/>
              <a:buFont typeface="Arial"/>
              <a:buAutoNum type="arabicPeriod"/>
            </a:pPr>
            <a:r>
              <a:rPr lang="en-US" dirty="0"/>
              <a:t>Literature Survey</a:t>
            </a:r>
            <a:endParaRPr dirty="0"/>
          </a:p>
          <a:p>
            <a:pPr marL="514350" lvl="0" indent="-483870" algn="l" rtl="0">
              <a:spcBef>
                <a:spcPts val="496"/>
              </a:spcBef>
              <a:spcAft>
                <a:spcPts val="0"/>
              </a:spcAft>
              <a:buClr>
                <a:schemeClr val="dk1"/>
              </a:buClr>
              <a:buSzPct val="100000"/>
              <a:buFont typeface="Arial"/>
              <a:buAutoNum type="arabicPeriod"/>
            </a:pPr>
            <a:r>
              <a:rPr lang="en-US" dirty="0"/>
              <a:t>Information to Seminar topic</a:t>
            </a:r>
            <a:endParaRPr dirty="0"/>
          </a:p>
          <a:p>
            <a:pPr marL="514350" lvl="0" indent="-483870" algn="l" rtl="0">
              <a:spcBef>
                <a:spcPts val="496"/>
              </a:spcBef>
              <a:spcAft>
                <a:spcPts val="0"/>
              </a:spcAft>
              <a:buClr>
                <a:schemeClr val="dk1"/>
              </a:buClr>
              <a:buSzPct val="100000"/>
              <a:buFont typeface="Arial"/>
              <a:buAutoNum type="arabicPeriod"/>
            </a:pPr>
            <a:r>
              <a:rPr lang="en-US" dirty="0"/>
              <a:t>Advantages and Disadvantages</a:t>
            </a:r>
            <a:endParaRPr dirty="0"/>
          </a:p>
          <a:p>
            <a:pPr marL="514350" lvl="0" indent="-483870" algn="l" rtl="0">
              <a:spcBef>
                <a:spcPts val="496"/>
              </a:spcBef>
              <a:spcAft>
                <a:spcPts val="0"/>
              </a:spcAft>
              <a:buClr>
                <a:schemeClr val="dk1"/>
              </a:buClr>
              <a:buSzPct val="100000"/>
              <a:buFont typeface="Arial"/>
              <a:buAutoNum type="arabicPeriod"/>
            </a:pPr>
            <a:r>
              <a:rPr lang="en-US" dirty="0"/>
              <a:t>Conclusion</a:t>
            </a:r>
            <a:endParaRPr dirty="0"/>
          </a:p>
          <a:p>
            <a:pPr marL="514350" lvl="0" indent="-483870" algn="l" rtl="0">
              <a:spcBef>
                <a:spcPts val="496"/>
              </a:spcBef>
              <a:spcAft>
                <a:spcPts val="0"/>
              </a:spcAft>
              <a:buClr>
                <a:schemeClr val="dk1"/>
              </a:buClr>
              <a:buSzPct val="100000"/>
              <a:buFont typeface="Arial"/>
              <a:buAutoNum type="arabicPeriod"/>
            </a:pPr>
            <a:r>
              <a:rPr lang="en-US" dirty="0"/>
              <a:t>Project Initiation : </a:t>
            </a:r>
            <a:endParaRPr dirty="0"/>
          </a:p>
          <a:p>
            <a:pPr marL="742950" lvl="0" indent="0" algn="l" rtl="0">
              <a:spcBef>
                <a:spcPts val="434"/>
              </a:spcBef>
              <a:spcAft>
                <a:spcPts val="0"/>
              </a:spcAft>
              <a:buNone/>
            </a:pPr>
            <a:r>
              <a:rPr lang="en-US" sz="2800" dirty="0"/>
              <a:t>6. 1 Description of problem statement.</a:t>
            </a:r>
            <a:endParaRPr sz="2800" dirty="0"/>
          </a:p>
          <a:p>
            <a:pPr marL="742950" lvl="0" indent="0" algn="l" rtl="0">
              <a:spcBef>
                <a:spcPts val="434"/>
              </a:spcBef>
              <a:spcAft>
                <a:spcPts val="0"/>
              </a:spcAft>
              <a:buNone/>
            </a:pPr>
            <a:r>
              <a:rPr lang="en-US" sz="2800" dirty="0"/>
              <a:t>6. 2 Scope and objectives.</a:t>
            </a:r>
            <a:endParaRPr sz="2800" dirty="0"/>
          </a:p>
          <a:p>
            <a:pPr marL="742950" lvl="0" indent="0" algn="l" rtl="0">
              <a:spcBef>
                <a:spcPts val="434"/>
              </a:spcBef>
              <a:spcAft>
                <a:spcPts val="0"/>
              </a:spcAft>
              <a:buNone/>
            </a:pPr>
            <a:r>
              <a:rPr lang="en-US" sz="2800" dirty="0"/>
              <a:t>6. 3 Stake holder</a:t>
            </a:r>
            <a:endParaRPr sz="2800" dirty="0"/>
          </a:p>
          <a:p>
            <a:pPr marL="742950" lvl="0" indent="0" algn="l" rtl="0">
              <a:spcBef>
                <a:spcPts val="434"/>
              </a:spcBef>
              <a:spcAft>
                <a:spcPts val="0"/>
              </a:spcAft>
              <a:buNone/>
            </a:pPr>
            <a:r>
              <a:rPr lang="en-US" sz="2800" dirty="0"/>
              <a:t>6. 4 seminar </a:t>
            </a:r>
            <a:r>
              <a:rPr lang="en-US" sz="2800" dirty="0" err="1"/>
              <a:t>exsicussion</a:t>
            </a:r>
            <a:r>
              <a:rPr lang="en-US" sz="2800" dirty="0"/>
              <a:t>  plan</a:t>
            </a:r>
            <a:endParaRPr sz="2800" dirty="0"/>
          </a:p>
          <a:p>
            <a:pPr marL="742950" lvl="0" indent="0" algn="l" rtl="0">
              <a:spcBef>
                <a:spcPts val="434"/>
              </a:spcBef>
              <a:spcAft>
                <a:spcPts val="0"/>
              </a:spcAft>
              <a:buNone/>
            </a:pPr>
            <a:r>
              <a:rPr lang="en-US" sz="2800" dirty="0"/>
              <a:t>6.5 Platform/ Equipment/ Resources identification.</a:t>
            </a:r>
            <a:endParaRPr sz="2800" dirty="0"/>
          </a:p>
          <a:p>
            <a:pPr marL="514350" lvl="0" indent="-483870" algn="l" rtl="0">
              <a:spcBef>
                <a:spcPts val="496"/>
              </a:spcBef>
              <a:spcAft>
                <a:spcPts val="0"/>
              </a:spcAft>
              <a:buClr>
                <a:schemeClr val="dk1"/>
              </a:buClr>
              <a:buSzPct val="100000"/>
              <a:buFont typeface="Arial"/>
              <a:buAutoNum type="arabicPeriod"/>
            </a:pPr>
            <a:r>
              <a:rPr lang="en-US" dirty="0"/>
              <a:t>Bibliography</a:t>
            </a:r>
            <a:endParaRPr dirty="0"/>
          </a:p>
          <a:p>
            <a:pPr marL="514350" lvl="0" indent="-483870" algn="l" rtl="0">
              <a:spcBef>
                <a:spcPts val="496"/>
              </a:spcBef>
              <a:spcAft>
                <a:spcPts val="0"/>
              </a:spcAft>
              <a:buClr>
                <a:schemeClr val="dk1"/>
              </a:buClr>
              <a:buSzPct val="100000"/>
              <a:buFont typeface="Arial"/>
              <a:buAutoNum type="arabicPeriod"/>
            </a:pPr>
            <a:r>
              <a:rPr lang="en-US" dirty="0"/>
              <a:t>References</a:t>
            </a:r>
            <a:endParaRPr dirty="0"/>
          </a:p>
          <a:p>
            <a:pPr marL="342900" lvl="0" indent="-185420" algn="l" rtl="0">
              <a:spcBef>
                <a:spcPts val="496"/>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Contents</a:t>
            </a:r>
            <a:endParaRP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Abstract</a:t>
            </a:r>
            <a:endParaRPr/>
          </a:p>
        </p:txBody>
      </p:sp>
      <p:sp>
        <p:nvSpPr>
          <p:cNvPr id="518" name="Google Shape;518;p1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85750" indent="-285750" algn="l">
              <a:spcBef>
                <a:spcPts val="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E-waste means old and broken electronic items like phones, laptops, chargers and batteries.</a:t>
            </a:r>
          </a:p>
          <a:p>
            <a:pPr marL="285750" indent="-285750" algn="l">
              <a:spcBef>
                <a:spcPts val="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India makes more than 1 million tonnes of e-waste every year, and a large part is not recycled safely.</a:t>
            </a:r>
          </a:p>
          <a:p>
            <a:pPr marL="285750" indent="-285750" algn="l">
              <a:spcBef>
                <a:spcPts val="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Our project is a web portal where users can request e-waste pickup and find authorised recyclers.</a:t>
            </a:r>
          </a:p>
          <a:p>
            <a:pPr marL="285750" indent="-285750" algn="l">
              <a:spcBef>
                <a:spcPts val="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Recycling reduces pollution and recovers useful metals like copper and gold.</a:t>
            </a:r>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1. Introduction</a:t>
            </a:r>
            <a:endParaRPr/>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85750" indent="-285750" algn="l">
              <a:spcBef>
                <a:spcPts val="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What is e-waste? </a:t>
            </a:r>
            <a:r>
              <a:rPr lang="en-US" sz="2500" b="0" i="0">
                <a:solidFill>
                  <a:schemeClr val="dk1"/>
                </a:solidFill>
                <a:latin typeface="Times New Roman"/>
                <a:ea typeface="Times New Roman"/>
                <a:cs typeface="Times New Roman"/>
              </a:rPr>
              <a:t>Old, broken or unwanted electronic items like phones, computers, TVs and batteries.</a:t>
            </a:r>
          </a:p>
          <a:p>
            <a:pPr marL="285750" indent="-285750" algn="l">
              <a:spcBef>
                <a:spcPts val="10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Where does it come from? </a:t>
            </a:r>
            <a:r>
              <a:rPr lang="en-US" sz="2500" b="0" i="0">
                <a:solidFill>
                  <a:schemeClr val="dk1"/>
                </a:solidFill>
                <a:latin typeface="Times New Roman"/>
                <a:ea typeface="Times New Roman"/>
                <a:cs typeface="Times New Roman"/>
              </a:rPr>
              <a:t>Homes, offices, colleges and shops throw away devices when they buy new ones.</a:t>
            </a:r>
          </a:p>
          <a:p>
            <a:pPr marL="285750" indent="-285750" algn="l">
              <a:spcBef>
                <a:spcPts val="10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Example: </a:t>
            </a:r>
            <a:r>
              <a:rPr lang="en-US" sz="2500" b="0" i="0">
                <a:solidFill>
                  <a:schemeClr val="dk1"/>
                </a:solidFill>
                <a:latin typeface="Times New Roman"/>
                <a:ea typeface="Times New Roman"/>
                <a:cs typeface="Times New Roman"/>
              </a:rPr>
              <a:t>An old phone is thrown in the dustbin and its battery leaks toxic metals into the soil.</a:t>
            </a:r>
          </a:p>
          <a:p>
            <a:pPr marL="285750" indent="-285750" algn="l">
              <a:spcBef>
                <a:spcPts val="10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Why is it dangerous? </a:t>
            </a:r>
            <a:r>
              <a:rPr lang="en-US" sz="2500" b="0" i="0">
                <a:solidFill>
                  <a:schemeClr val="dk1"/>
                </a:solidFill>
                <a:latin typeface="Times New Roman"/>
                <a:ea typeface="Times New Roman"/>
                <a:cs typeface="Times New Roman"/>
              </a:rPr>
              <a:t>Lead, mercury and cadmium harm health and pollute land, water and air.</a:t>
            </a:r>
          </a:p>
          <a:p>
            <a:pPr marL="285750" indent="-285750" algn="l">
              <a:spcBef>
                <a:spcPts val="10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Our solution: </a:t>
            </a:r>
            <a:r>
              <a:rPr lang="en-US" sz="2500" b="0" i="0">
                <a:solidFill>
                  <a:schemeClr val="dk1"/>
                </a:solidFill>
                <a:latin typeface="Times New Roman"/>
                <a:ea typeface="Times New Roman"/>
                <a:cs typeface="Times New Roman"/>
              </a:rPr>
              <a:t>A portal that helps users give e-waste to authorised recyclers.</a:t>
            </a:r>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2. Literature Survey </a:t>
            </a:r>
            <a:endParaRPr dirty="0"/>
          </a:p>
        </p:txBody>
      </p:sp>
      <p:sp>
        <p:nvSpPr>
          <p:cNvPr id="532" name="Google Shape;532;p17"/>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endParaRPr lang="en-US" sz="180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graphicFrame>
        <p:nvGraphicFramePr>
          <p:cNvPr id="901" name="Table 901"/>
          <p:cNvGraphicFramePr/>
          <p:nvPr/>
        </p:nvGraphicFramePr>
        <p:xfrm>
          <a:off x="457200" y="1400000"/>
          <a:ext cx="8229600" cy="4902250"/>
        </p:xfrm>
        <a:graphic>
          <a:graphicData uri="http://schemas.openxmlformats.org/drawingml/2006/table">
            <a:tbl>
              <a:tblPr firstRow="1"/>
              <a:tblGrid>
                <a:gridCol w="600000">
                  <a:extLst>
                    <a:ext uri="{9D8B030D-6E8A-4147-A177-3AD203B41FA5}">
                      <a16:colId xmlns:a16="http://schemas.microsoft.com/office/drawing/2014/main" val="20000"/>
                    </a:ext>
                  </a:extLst>
                </a:gridCol>
                <a:gridCol w="2200000">
                  <a:extLst>
                    <a:ext uri="{9D8B030D-6E8A-4147-A177-3AD203B41FA5}">
                      <a16:colId xmlns:a16="http://schemas.microsoft.com/office/drawing/2014/main" val="20001"/>
                    </a:ext>
                  </a:extLst>
                </a:gridCol>
                <a:gridCol w="2929600">
                  <a:extLst>
                    <a:ext uri="{9D8B030D-6E8A-4147-A177-3AD203B41FA5}">
                      <a16:colId xmlns:a16="http://schemas.microsoft.com/office/drawing/2014/main" val="20002"/>
                    </a:ext>
                  </a:extLst>
                </a:gridCol>
                <a:gridCol w="2500000">
                  <a:extLst>
                    <a:ext uri="{9D8B030D-6E8A-4147-A177-3AD203B41FA5}">
                      <a16:colId xmlns:a16="http://schemas.microsoft.com/office/drawing/2014/main" val="20003"/>
                    </a:ext>
                  </a:extLst>
                </a:gridCol>
              </a:tblGrid>
              <a:tr h="500000">
                <a:tc>
                  <a:txBody>
                    <a:bodyPr/>
                    <a:lstStyle/>
                    <a:p>
                      <a:pPr algn="l">
                        <a:buNone/>
                      </a:pPr>
                      <a:r>
                        <a:rPr lang="en-US" sz="1500" b="1" i="0">
                          <a:solidFill>
                            <a:srgbClr val="FFFFFF"/>
                          </a:solidFill>
                          <a:latin typeface="Times New Roman"/>
                          <a:ea typeface="Times New Roman"/>
                          <a:cs typeface="Times New Roman"/>
                        </a:rPr>
                        <a:t>Sr.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500" b="1" i="0">
                          <a:solidFill>
                            <a:srgbClr val="FFFFFF"/>
                          </a:solidFill>
                          <a:latin typeface="Times New Roman"/>
                          <a:ea typeface="Times New Roman"/>
                          <a:cs typeface="Times New Roman"/>
                        </a:rPr>
                        <a:t>Author and Year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500" b="1" i="0">
                          <a:solidFill>
                            <a:srgbClr val="FFFFFF"/>
                          </a:solidFill>
                          <a:latin typeface="Times New Roman"/>
                          <a:ea typeface="Times New Roman"/>
                          <a:cs typeface="Times New Roman"/>
                        </a:rPr>
                        <a:t>Method used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500" b="1" i="0">
                          <a:solidFill>
                            <a:srgbClr val="FFFFFF"/>
                          </a:solidFill>
                          <a:latin typeface="Times New Roman"/>
                          <a:ea typeface="Times New Roman"/>
                          <a:cs typeface="Times New Roman"/>
                        </a:rPr>
                        <a:t>Finding</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extLst>
                  <a:ext uri="{0D108BD9-81ED-4DB2-BD59-A6C34878D82A}">
                    <a16:rowId xmlns:a16="http://schemas.microsoft.com/office/drawing/2014/main" val="10000"/>
                  </a:ext>
                </a:extLst>
              </a:tr>
              <a:tr h="725000">
                <a:tc>
                  <a:txBody>
                    <a:bodyPr/>
                    <a:lstStyle/>
                    <a:p>
                      <a:pPr algn="l">
                        <a:buNone/>
                      </a:pPr>
                      <a:r>
                        <a:rPr lang="en-US" sz="1500" b="1" i="0">
                          <a:solidFill>
                            <a:schemeClr val="dk1"/>
                          </a:solidFill>
                          <a:latin typeface="Times New Roman"/>
                          <a:ea typeface="Times New Roman"/>
                          <a:cs typeface="Times New Roman"/>
                        </a:rPr>
                        <a:t>1</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Baldé et al., 2017 [1]</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Global survey of how much e-waste is made and recycled (Global E-waste Monitor)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44.7 million tonnes in 2016; only about 20% was collected and recycled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1"/>
                  </a:ext>
                </a:extLst>
              </a:tr>
              <a:tr h="725000">
                <a:tc>
                  <a:txBody>
                    <a:bodyPr/>
                    <a:lstStyle/>
                    <a:p>
                      <a:pPr algn="l">
                        <a:buNone/>
                      </a:pPr>
                      <a:r>
                        <a:rPr lang="en-US" sz="1500" b="1" i="0">
                          <a:solidFill>
                            <a:schemeClr val="dk1"/>
                          </a:solidFill>
                          <a:latin typeface="Times New Roman"/>
                          <a:ea typeface="Times New Roman"/>
                          <a:cs typeface="Times New Roman"/>
                        </a:rPr>
                        <a:t>2</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Forti et al., 2020 [2]</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Updated Global E-waste Monitor report with the circular economy view</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53.6 million tonnes in 2019; only 17.4% was collected and recycled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2"/>
                  </a:ext>
                </a:extLst>
              </a:tr>
              <a:tr h="725000">
                <a:tc>
                  <a:txBody>
                    <a:bodyPr/>
                    <a:lstStyle/>
                    <a:p>
                      <a:pPr algn="l">
                        <a:buNone/>
                      </a:pPr>
                      <a:r>
                        <a:rPr lang="en-US" sz="1500" b="1" i="0">
                          <a:solidFill>
                            <a:schemeClr val="dk1"/>
                          </a:solidFill>
                          <a:latin typeface="Times New Roman"/>
                          <a:ea typeface="Times New Roman"/>
                          <a:cs typeface="Times New Roman"/>
                        </a:rPr>
                        <a:t>3</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Widmer et al., 2005 [3]</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Review of e-waste flows, hazardous substances and recycling</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Informal recycling harms health; safe recycling systems are needed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3"/>
                  </a:ext>
                </a:extLst>
              </a:tr>
              <a:tr h="725000">
                <a:tc>
                  <a:txBody>
                    <a:bodyPr/>
                    <a:lstStyle/>
                    <a:p>
                      <a:pPr algn="l">
                        <a:buNone/>
                      </a:pPr>
                      <a:r>
                        <a:rPr lang="en-US" sz="1500" b="1" i="0">
                          <a:solidFill>
                            <a:schemeClr val="dk1"/>
                          </a:solidFill>
                          <a:latin typeface="Times New Roman"/>
                          <a:ea typeface="Times New Roman"/>
                          <a:cs typeface="Times New Roman"/>
                        </a:rPr>
                        <a:t>4</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Robinson, 2009 [4]</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Assessment of global e-waste production and its environmental impact</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E-waste has toxic metals; much of it is not recycled properly</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4"/>
                  </a:ext>
                </a:extLst>
              </a:tr>
              <a:tr h="725000">
                <a:tc>
                  <a:txBody>
                    <a:bodyPr/>
                    <a:lstStyle/>
                    <a:p>
                      <a:pPr algn="l">
                        <a:buNone/>
                      </a:pPr>
                      <a:r>
                        <a:rPr lang="en-US" sz="1500" b="1" i="0">
                          <a:solidFill>
                            <a:schemeClr val="dk1"/>
                          </a:solidFill>
                          <a:latin typeface="Times New Roman"/>
                          <a:ea typeface="Times New Roman"/>
                          <a:cs typeface="Times New Roman"/>
                        </a:rPr>
                        <a:t>5</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Kiddee et al., 2013 [5]</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Overview of e-waste management: landfill, burning, reuse and recycling</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Proper collection and recycling is the best way to manage e-waste</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5"/>
                  </a:ext>
                </a:extLst>
              </a:tr>
              <a:tr h="725000">
                <a:tc>
                  <a:txBody>
                    <a:bodyPr/>
                    <a:lstStyle/>
                    <a:p>
                      <a:pPr algn="l">
                        <a:buNone/>
                      </a:pPr>
                      <a:r>
                        <a:rPr lang="en-US" sz="1500" b="1" i="0">
                          <a:solidFill>
                            <a:schemeClr val="dk1"/>
                          </a:solidFill>
                          <a:latin typeface="Times New Roman"/>
                          <a:ea typeface="Times New Roman"/>
                          <a:cs typeface="Times New Roman"/>
                        </a:rPr>
                        <a:t>6</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Heacock et al., 2016 [6]</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Study of health effects of e-waste on children and pregnant women</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Informal recycling exposes vulnerable people to toxic substances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2. Literature Survey </a:t>
            </a:r>
            <a:endParaRPr dirty="0"/>
          </a:p>
        </p:txBody>
      </p:sp>
      <p:sp>
        <p:nvSpPr>
          <p:cNvPr id="532" name="Google Shape;532;p17"/>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endParaRPr lang="en-US" sz="180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a:t>
            </a:fld>
            <a:endParaRPr/>
          </a:p>
        </p:txBody>
      </p:sp>
      <p:graphicFrame>
        <p:nvGraphicFramePr>
          <p:cNvPr id="901" name="Table 901"/>
          <p:cNvGraphicFramePr/>
          <p:nvPr/>
        </p:nvGraphicFramePr>
        <p:xfrm>
          <a:off x="457200" y="1400000"/>
          <a:ext cx="8229600" cy="5006750"/>
        </p:xfrm>
        <a:graphic>
          <a:graphicData uri="http://schemas.openxmlformats.org/drawingml/2006/table">
            <a:tbl>
              <a:tblPr firstRow="1"/>
              <a:tblGrid>
                <a:gridCol w="600000">
                  <a:extLst>
                    <a:ext uri="{9D8B030D-6E8A-4147-A177-3AD203B41FA5}">
                      <a16:colId xmlns:a16="http://schemas.microsoft.com/office/drawing/2014/main" val="20000"/>
                    </a:ext>
                  </a:extLst>
                </a:gridCol>
                <a:gridCol w="2200000">
                  <a:extLst>
                    <a:ext uri="{9D8B030D-6E8A-4147-A177-3AD203B41FA5}">
                      <a16:colId xmlns:a16="http://schemas.microsoft.com/office/drawing/2014/main" val="20001"/>
                    </a:ext>
                  </a:extLst>
                </a:gridCol>
                <a:gridCol w="2929600">
                  <a:extLst>
                    <a:ext uri="{9D8B030D-6E8A-4147-A177-3AD203B41FA5}">
                      <a16:colId xmlns:a16="http://schemas.microsoft.com/office/drawing/2014/main" val="20002"/>
                    </a:ext>
                  </a:extLst>
                </a:gridCol>
                <a:gridCol w="2500000">
                  <a:extLst>
                    <a:ext uri="{9D8B030D-6E8A-4147-A177-3AD203B41FA5}">
                      <a16:colId xmlns:a16="http://schemas.microsoft.com/office/drawing/2014/main" val="20003"/>
                    </a:ext>
                  </a:extLst>
                </a:gridCol>
              </a:tblGrid>
              <a:tr h="500000">
                <a:tc>
                  <a:txBody>
                    <a:bodyPr/>
                    <a:lstStyle/>
                    <a:p>
                      <a:pPr algn="l">
                        <a:buNone/>
                      </a:pPr>
                      <a:r>
                        <a:rPr lang="en-US" sz="1500" b="1" i="0">
                          <a:solidFill>
                            <a:srgbClr val="FFFFFF"/>
                          </a:solidFill>
                          <a:latin typeface="Times New Roman"/>
                          <a:ea typeface="Times New Roman"/>
                          <a:cs typeface="Times New Roman"/>
                        </a:rPr>
                        <a:t>Sr.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500" b="1" i="0">
                          <a:solidFill>
                            <a:srgbClr val="FFFFFF"/>
                          </a:solidFill>
                          <a:latin typeface="Times New Roman"/>
                          <a:ea typeface="Times New Roman"/>
                          <a:cs typeface="Times New Roman"/>
                        </a:rPr>
                        <a:t>Author and Year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500" b="1" i="0">
                          <a:solidFill>
                            <a:srgbClr val="FFFFFF"/>
                          </a:solidFill>
                          <a:latin typeface="Times New Roman"/>
                          <a:ea typeface="Times New Roman"/>
                          <a:cs typeface="Times New Roman"/>
                        </a:rPr>
                        <a:t>Method used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500" b="1" i="0">
                          <a:solidFill>
                            <a:srgbClr val="FFFFFF"/>
                          </a:solidFill>
                          <a:latin typeface="Times New Roman"/>
                          <a:ea typeface="Times New Roman"/>
                          <a:cs typeface="Times New Roman"/>
                        </a:rPr>
                        <a:t>Finding</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extLst>
                  <a:ext uri="{0D108BD9-81ED-4DB2-BD59-A6C34878D82A}">
                    <a16:rowId xmlns:a16="http://schemas.microsoft.com/office/drawing/2014/main" val="10000"/>
                  </a:ext>
                </a:extLst>
              </a:tr>
              <a:tr h="725000">
                <a:tc>
                  <a:txBody>
                    <a:bodyPr/>
                    <a:lstStyle/>
                    <a:p>
                      <a:pPr algn="l">
                        <a:buNone/>
                      </a:pPr>
                      <a:r>
                        <a:rPr lang="en-US" sz="1500" b="1" i="0">
                          <a:solidFill>
                            <a:schemeClr val="dk1"/>
                          </a:solidFill>
                          <a:latin typeface="Times New Roman"/>
                          <a:ea typeface="Times New Roman"/>
                          <a:cs typeface="Times New Roman"/>
                        </a:rPr>
                        <a:t>7</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Borthakur and Singh, 2012 [7]</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Study of e-waste problems and policies in India</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Informal sector handles most e-waste; better rules and collection needed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1"/>
                  </a:ext>
                </a:extLst>
              </a:tr>
              <a:tr h="725000">
                <a:tc>
                  <a:txBody>
                    <a:bodyPr/>
                    <a:lstStyle/>
                    <a:p>
                      <a:pPr algn="l">
                        <a:buNone/>
                      </a:pPr>
                      <a:r>
                        <a:rPr lang="en-US" sz="1500" b="1" i="0">
                          <a:solidFill>
                            <a:schemeClr val="dk1"/>
                          </a:solidFill>
                          <a:latin typeface="Times New Roman"/>
                          <a:ea typeface="Times New Roman"/>
                          <a:cs typeface="Times New Roman"/>
                        </a:rPr>
                        <a:t>8</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MoEFCC, 2016 [8]</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E-Waste (Management) Rules of India</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Makes producers responsible (EPR); sets up collection and authorised recyclers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2"/>
                  </a:ext>
                </a:extLst>
              </a:tr>
              <a:tr h="725000">
                <a:tc>
                  <a:txBody>
                    <a:bodyPr/>
                    <a:lstStyle/>
                    <a:p>
                      <a:pPr algn="l">
                        <a:buNone/>
                      </a:pPr>
                      <a:r>
                        <a:rPr lang="en-US" sz="1500" b="1" i="0">
                          <a:solidFill>
                            <a:schemeClr val="dk1"/>
                          </a:solidFill>
                          <a:latin typeface="Times New Roman"/>
                          <a:ea typeface="Times New Roman"/>
                          <a:cs typeface="Times New Roman"/>
                        </a:rPr>
                        <a:t>9</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Ongondo et al., 2011 [9]</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Global review of how countries manage electrical and electronic waste</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Laws differ by country; producer responsibility is widely used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3"/>
                  </a:ext>
                </a:extLst>
              </a:tr>
              <a:tr h="725000">
                <a:tc>
                  <a:txBody>
                    <a:bodyPr/>
                    <a:lstStyle/>
                    <a:p>
                      <a:pPr algn="l">
                        <a:buNone/>
                      </a:pPr>
                      <a:r>
                        <a:rPr lang="en-US" sz="1500" b="1" i="0">
                          <a:solidFill>
                            <a:schemeClr val="dk1"/>
                          </a:solidFill>
                          <a:latin typeface="Times New Roman"/>
                          <a:ea typeface="Times New Roman"/>
                          <a:cs typeface="Times New Roman"/>
                        </a:rPr>
                        <a:t>10</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Tansel, 2017 [10]</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Review of e-waste quantities, global outlook and recycling challenges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Fast replacement of devices increases e-waste; recovery is difficult</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4"/>
                  </a:ext>
                </a:extLst>
              </a:tr>
              <a:tr h="725000">
                <a:tc>
                  <a:txBody>
                    <a:bodyPr/>
                    <a:lstStyle/>
                    <a:p>
                      <a:pPr algn="l">
                        <a:buNone/>
                      </a:pPr>
                      <a:r>
                        <a:rPr lang="en-US" sz="1500" b="1" i="0">
                          <a:solidFill>
                            <a:schemeClr val="dk1"/>
                          </a:solidFill>
                          <a:latin typeface="Times New Roman"/>
                          <a:ea typeface="Times New Roman"/>
                          <a:cs typeface="Times New Roman"/>
                        </a:rPr>
                        <a:t>11</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Awasthi et al., 2016 [11]</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Critical review of pollution from e-waste recycling in India</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500" b="0" i="0">
                          <a:solidFill>
                            <a:schemeClr val="dk1"/>
                          </a:solidFill>
                          <a:latin typeface="Times New Roman"/>
                          <a:ea typeface="Times New Roman"/>
                          <a:cs typeface="Times New Roman"/>
                        </a:rPr>
                        <a:t>Unsafe recycling pollutes soil, water and air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5"/>
                  </a:ext>
                </a:extLst>
              </a:tr>
              <a:tr h="725000">
                <a:tc>
                  <a:txBody>
                    <a:bodyPr/>
                    <a:lstStyle/>
                    <a:p>
                      <a:pPr algn="l">
                        <a:buNone/>
                      </a:pPr>
                      <a:r>
                        <a:rPr lang="en-US" sz="1500" b="1" i="0">
                          <a:solidFill>
                            <a:schemeClr val="dk1"/>
                          </a:solidFill>
                          <a:latin typeface="Times New Roman"/>
                          <a:ea typeface="Times New Roman"/>
                          <a:cs typeface="Times New Roman"/>
                        </a:rPr>
                        <a:t>12</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MoEFCC, 2022 [12]</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New E-Waste (Management) Rules of India</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500" b="0" i="0">
                          <a:solidFill>
                            <a:schemeClr val="dk1"/>
                          </a:solidFill>
                          <a:latin typeface="Times New Roman"/>
                          <a:ea typeface="Times New Roman"/>
                          <a:cs typeface="Times New Roman"/>
                        </a:rPr>
                        <a:t>Adds EPR certificates and recycling targets for producers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3. Information to seminar topic</a:t>
            </a:r>
            <a:endParaRP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800" b="1" i="0">
                <a:solidFill>
                  <a:srgbClr val="1F3864"/>
                </a:solidFill>
                <a:latin typeface="Times New Roman"/>
                <a:ea typeface="Times New Roman"/>
                <a:cs typeface="Times New Roman"/>
              </a:rPr>
              <a:t>How e-waste is managed</a:t>
            </a:r>
          </a:p>
          <a:p>
            <a:pPr marL="0" indent="0" algn="l">
              <a:spcBef>
                <a:spcPts val="600"/>
              </a:spcBef>
              <a:spcAft>
                <a:spcPts val="0"/>
              </a:spcAft>
              <a:buNone/>
            </a:pPr>
            <a:r>
              <a:rPr lang="en-US" sz="2500" b="0" i="0">
                <a:solidFill>
                  <a:schemeClr val="dk1"/>
                </a:solidFill>
                <a:latin typeface="Times New Roman"/>
                <a:ea typeface="Times New Roman"/>
                <a:cs typeface="Times New Roman"/>
              </a:rPr>
              <a:t>1. Old items are collected from users.</a:t>
            </a:r>
          </a:p>
          <a:p>
            <a:pPr marL="0" indent="0" algn="l">
              <a:spcBef>
                <a:spcPts val="600"/>
              </a:spcBef>
              <a:spcAft>
                <a:spcPts val="0"/>
              </a:spcAft>
              <a:buNone/>
            </a:pPr>
            <a:r>
              <a:rPr lang="en-US" sz="2500" b="0" i="0">
                <a:solidFill>
                  <a:schemeClr val="dk1"/>
                </a:solidFill>
                <a:latin typeface="Times New Roman"/>
                <a:ea typeface="Times New Roman"/>
                <a:cs typeface="Times New Roman"/>
              </a:rPr>
              <a:t>2. Items are sorted; working ones are reused.</a:t>
            </a:r>
          </a:p>
          <a:p>
            <a:pPr marL="0" indent="0" algn="l">
              <a:spcBef>
                <a:spcPts val="600"/>
              </a:spcBef>
              <a:spcAft>
                <a:spcPts val="0"/>
              </a:spcAft>
              <a:buNone/>
            </a:pPr>
            <a:r>
              <a:rPr lang="en-US" sz="2500" b="0" i="0">
                <a:solidFill>
                  <a:schemeClr val="dk1"/>
                </a:solidFill>
                <a:latin typeface="Times New Roman"/>
                <a:ea typeface="Times New Roman"/>
                <a:cs typeface="Times New Roman"/>
              </a:rPr>
              <a:t>3. Rest is taken apart and recycled.</a:t>
            </a:r>
          </a:p>
          <a:p>
            <a:pPr marL="0" indent="0" algn="l">
              <a:spcBef>
                <a:spcPts val="600"/>
              </a:spcBef>
              <a:spcAft>
                <a:spcPts val="0"/>
              </a:spcAft>
              <a:buNone/>
            </a:pPr>
            <a:r>
              <a:rPr lang="en-US" sz="2500" b="0" i="0">
                <a:solidFill>
                  <a:schemeClr val="dk1"/>
                </a:solidFill>
                <a:latin typeface="Times New Roman"/>
                <a:ea typeface="Times New Roman"/>
                <a:cs typeface="Times New Roman"/>
              </a:rPr>
              <a:t>4. Leftover waste is disposed of safely.</a:t>
            </a:r>
          </a:p>
          <a:p>
            <a:pPr marL="0" indent="0" algn="l">
              <a:spcBef>
                <a:spcPts val="1100"/>
              </a:spcBef>
              <a:spcAft>
                <a:spcPts val="0"/>
              </a:spcAft>
              <a:buNone/>
            </a:pPr>
            <a:r>
              <a:rPr lang="en-US" sz="2800" b="1" i="0">
                <a:solidFill>
                  <a:srgbClr val="1F3864"/>
                </a:solidFill>
                <a:latin typeface="Times New Roman"/>
                <a:ea typeface="Times New Roman"/>
                <a:cs typeface="Times New Roman"/>
              </a:rPr>
              <a:t>Common types</a:t>
            </a:r>
          </a:p>
          <a:p>
            <a:pPr marL="285750" indent="-285750" algn="l">
              <a:spcBef>
                <a:spcPts val="6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Large appliances – fridge, washing machine</a:t>
            </a:r>
          </a:p>
          <a:p>
            <a:pPr marL="285750" indent="-285750" algn="l">
              <a:spcBef>
                <a:spcPts val="6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IT items – laptops, phones, printers</a:t>
            </a:r>
          </a:p>
          <a:p>
            <a:pPr marL="285750" indent="-285750" algn="l">
              <a:spcBef>
                <a:spcPts val="6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Small items – chargers, batteries, bulbs</a:t>
            </a: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a:t>3.1 Why e-waste is harmful</a:t>
            </a: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500" b="0" i="0">
                <a:solidFill>
                  <a:schemeClr val="dk1"/>
                </a:solidFill>
                <a:latin typeface="Times New Roman"/>
                <a:ea typeface="Times New Roman"/>
                <a:cs typeface="Times New Roman"/>
              </a:rPr>
              <a:t>E-waste has many harmful materials inside:</a:t>
            </a:r>
          </a:p>
          <a:p>
            <a:pPr marL="285750" indent="-285750" algn="l">
              <a:spcBef>
                <a:spcPts val="9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Lead </a:t>
            </a:r>
            <a:r>
              <a:rPr lang="en-US" sz="2500" b="0" i="0">
                <a:solidFill>
                  <a:schemeClr val="dk1"/>
                </a:solidFill>
                <a:latin typeface="Times New Roman"/>
                <a:ea typeface="Times New Roman"/>
                <a:cs typeface="Times New Roman"/>
              </a:rPr>
              <a:t>– harms the brain and nerves, mostly in children.</a:t>
            </a:r>
          </a:p>
          <a:p>
            <a:pPr marL="285750" indent="-285750" algn="l">
              <a:spcBef>
                <a:spcPts val="8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Mercury </a:t>
            </a:r>
            <a:r>
              <a:rPr lang="en-US" sz="2500" b="0" i="0">
                <a:solidFill>
                  <a:schemeClr val="dk1"/>
                </a:solidFill>
                <a:latin typeface="Times New Roman"/>
                <a:ea typeface="Times New Roman"/>
                <a:cs typeface="Times New Roman"/>
              </a:rPr>
              <a:t>– found in bulbs and screens; poisons water.</a:t>
            </a:r>
          </a:p>
          <a:p>
            <a:pPr marL="285750" indent="-285750" algn="l">
              <a:spcBef>
                <a:spcPts val="8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Cadmium </a:t>
            </a:r>
            <a:r>
              <a:rPr lang="en-US" sz="2500" b="0" i="0">
                <a:solidFill>
                  <a:schemeClr val="dk1"/>
                </a:solidFill>
                <a:latin typeface="Times New Roman"/>
                <a:ea typeface="Times New Roman"/>
                <a:cs typeface="Times New Roman"/>
              </a:rPr>
              <a:t>– found in batteries; harms kidneys and bones.</a:t>
            </a:r>
          </a:p>
          <a:p>
            <a:pPr marL="285750" indent="-285750" algn="l">
              <a:spcBef>
                <a:spcPts val="8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Burning wires </a:t>
            </a:r>
            <a:r>
              <a:rPr lang="en-US" sz="2500" b="0" i="0">
                <a:solidFill>
                  <a:schemeClr val="dk1"/>
                </a:solidFill>
                <a:latin typeface="Times New Roman"/>
                <a:ea typeface="Times New Roman"/>
                <a:cs typeface="Times New Roman"/>
              </a:rPr>
              <a:t>– gives toxic smoke and pollutes air.</a:t>
            </a:r>
          </a:p>
          <a:p>
            <a:pPr marL="285750" indent="-285750" algn="l">
              <a:spcBef>
                <a:spcPts val="800"/>
              </a:spcBef>
              <a:spcAft>
                <a:spcPts val="0"/>
              </a:spcAft>
              <a:buClr>
                <a:schemeClr val="dk1"/>
              </a:buClr>
              <a:buSzPct val="100000"/>
              <a:buFont typeface="Arial"/>
              <a:buChar char="•"/>
            </a:pPr>
            <a:r>
              <a:rPr lang="en-US" sz="2500" b="1" i="0">
                <a:solidFill>
                  <a:schemeClr val="dk1"/>
                </a:solidFill>
                <a:latin typeface="Times New Roman"/>
                <a:ea typeface="Times New Roman"/>
                <a:cs typeface="Times New Roman"/>
              </a:rPr>
              <a:t>Valuable metals </a:t>
            </a:r>
            <a:r>
              <a:rPr lang="en-US" sz="2500" b="0" i="0">
                <a:solidFill>
                  <a:schemeClr val="dk1"/>
                </a:solidFill>
                <a:latin typeface="Times New Roman"/>
                <a:ea typeface="Times New Roman"/>
                <a:cs typeface="Times New Roman"/>
              </a:rPr>
              <a:t>– gold, silver and copper can be recovered.</a:t>
            </a:r>
          </a:p>
          <a:p>
            <a:pPr marL="0" indent="0" algn="l">
              <a:spcBef>
                <a:spcPts val="1000"/>
              </a:spcBef>
              <a:spcAft>
                <a:spcPts val="0"/>
              </a:spcAft>
              <a:buNone/>
            </a:pPr>
            <a:r>
              <a:rPr lang="en-US" sz="2500" b="0" i="0">
                <a:solidFill>
                  <a:schemeClr val="dk1"/>
                </a:solidFill>
                <a:latin typeface="Times New Roman"/>
                <a:ea typeface="Times New Roman"/>
                <a:cs typeface="Times New Roman"/>
              </a:rPr>
              <a:t>Throwing e-waste in the dustbin wastes these resources and harms nature.</a:t>
            </a: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a:t>3.2 How our portal works</a:t>
            </a: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600" b="1" i="0">
                <a:solidFill>
                  <a:srgbClr val="1F3864"/>
                </a:solidFill>
                <a:latin typeface="Times New Roman"/>
                <a:ea typeface="Times New Roman"/>
                <a:cs typeface="Times New Roman"/>
              </a:rPr>
              <a:t>Steps of the portal</a:t>
            </a: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
        <p:nvSpPr>
          <p:cNvPr id="901" name="Box 901"/>
          <p:cNvSpPr/>
          <p:nvPr/>
        </p:nvSpPr>
        <p:spPr>
          <a:xfrm>
            <a:off x="640000" y="2150000"/>
            <a:ext cx="2200000" cy="1000000"/>
          </a:xfrm>
          <a:prstGeom prst="roundRect">
            <a:avLst/>
          </a:prstGeom>
          <a:solidFill>
            <a:srgbClr val="1F3864"/>
          </a:solidFill>
          <a:ln>
            <a:noFill/>
          </a:ln>
        </p:spPr>
        <p:txBody>
          <a:bodyPr wrap="square" lIns="91425" tIns="45700" rIns="91425" bIns="45700" anchor="ctr">
            <a:normAutofit/>
          </a:bodyPr>
          <a:lstStyle/>
          <a:p>
            <a:pPr marL="0" indent="0" algn="ctr">
              <a:spcBef>
                <a:spcPts val="0"/>
              </a:spcBef>
              <a:spcAft>
                <a:spcPts val="0"/>
              </a:spcAft>
              <a:buNone/>
            </a:pPr>
            <a:r>
              <a:rPr lang="en-US" sz="1900" b="1" i="0">
                <a:solidFill>
                  <a:srgbClr val="FFFFFF"/>
                </a:solidFill>
                <a:latin typeface="Times New Roman"/>
                <a:ea typeface="Times New Roman"/>
                <a:cs typeface="Times New Roman"/>
              </a:rPr>
              <a:t>1. Register</a:t>
            </a:r>
          </a:p>
          <a:p>
            <a:pPr marL="0" indent="0" algn="ctr">
              <a:spcBef>
                <a:spcPts val="200"/>
              </a:spcBef>
              <a:spcAft>
                <a:spcPts val="0"/>
              </a:spcAft>
              <a:buNone/>
            </a:pPr>
            <a:r>
              <a:rPr lang="en-US" sz="1500" b="0" i="0">
                <a:solidFill>
                  <a:srgbClr val="FFFFFF"/>
                </a:solidFill>
                <a:latin typeface="Times New Roman"/>
                <a:ea typeface="Times New Roman"/>
                <a:cs typeface="Times New Roman"/>
              </a:rPr>
              <a:t>user makes an account</a:t>
            </a:r>
          </a:p>
        </p:txBody>
      </p:sp>
      <p:sp>
        <p:nvSpPr>
          <p:cNvPr id="902" name="Box 902"/>
          <p:cNvSpPr/>
          <p:nvPr/>
        </p:nvSpPr>
        <p:spPr>
          <a:xfrm>
            <a:off x="3472000" y="2150000"/>
            <a:ext cx="2200000" cy="1000000"/>
          </a:xfrm>
          <a:prstGeom prst="roundRect">
            <a:avLst/>
          </a:prstGeom>
          <a:solidFill>
            <a:srgbClr val="1F3864"/>
          </a:solidFill>
          <a:ln>
            <a:noFill/>
          </a:ln>
        </p:spPr>
        <p:txBody>
          <a:bodyPr wrap="square" lIns="91425" tIns="45700" rIns="91425" bIns="45700" anchor="ctr">
            <a:normAutofit/>
          </a:bodyPr>
          <a:lstStyle/>
          <a:p>
            <a:pPr marL="0" indent="0" algn="ctr">
              <a:spcBef>
                <a:spcPts val="0"/>
              </a:spcBef>
              <a:spcAft>
                <a:spcPts val="0"/>
              </a:spcAft>
              <a:buNone/>
            </a:pPr>
            <a:r>
              <a:rPr lang="en-US" sz="1900" b="1" i="0">
                <a:solidFill>
                  <a:srgbClr val="FFFFFF"/>
                </a:solidFill>
                <a:latin typeface="Times New Roman"/>
                <a:ea typeface="Times New Roman"/>
                <a:cs typeface="Times New Roman"/>
              </a:rPr>
              <a:t>2. Request pickup</a:t>
            </a:r>
          </a:p>
          <a:p>
            <a:pPr marL="0" indent="0" algn="ctr">
              <a:spcBef>
                <a:spcPts val="200"/>
              </a:spcBef>
              <a:spcAft>
                <a:spcPts val="0"/>
              </a:spcAft>
              <a:buNone/>
            </a:pPr>
            <a:r>
              <a:rPr lang="en-US" sz="1500" b="0" i="0">
                <a:solidFill>
                  <a:srgbClr val="FFFFFF"/>
                </a:solidFill>
                <a:latin typeface="Times New Roman"/>
                <a:ea typeface="Times New Roman"/>
                <a:cs typeface="Times New Roman"/>
              </a:rPr>
              <a:t>item, quantity, address</a:t>
            </a:r>
          </a:p>
        </p:txBody>
      </p:sp>
      <p:sp>
        <p:nvSpPr>
          <p:cNvPr id="903" name="Box 903"/>
          <p:cNvSpPr/>
          <p:nvPr/>
        </p:nvSpPr>
        <p:spPr>
          <a:xfrm>
            <a:off x="6304000" y="2150000"/>
            <a:ext cx="2200000" cy="1000000"/>
          </a:xfrm>
          <a:prstGeom prst="roundRect">
            <a:avLst/>
          </a:prstGeom>
          <a:solidFill>
            <a:srgbClr val="1F3864"/>
          </a:solidFill>
          <a:ln>
            <a:noFill/>
          </a:ln>
        </p:spPr>
        <p:txBody>
          <a:bodyPr wrap="square" lIns="91425" tIns="45700" rIns="91425" bIns="45700" anchor="ctr">
            <a:normAutofit/>
          </a:bodyPr>
          <a:lstStyle/>
          <a:p>
            <a:pPr marL="0" indent="0" algn="ctr">
              <a:spcBef>
                <a:spcPts val="0"/>
              </a:spcBef>
              <a:spcAft>
                <a:spcPts val="0"/>
              </a:spcAft>
              <a:buNone/>
            </a:pPr>
            <a:r>
              <a:rPr lang="en-US" sz="1900" b="1" i="0">
                <a:solidFill>
                  <a:srgbClr val="FFFFFF"/>
                </a:solidFill>
                <a:latin typeface="Times New Roman"/>
                <a:ea typeface="Times New Roman"/>
                <a:cs typeface="Times New Roman"/>
              </a:rPr>
              <a:t>3. Admin checks</a:t>
            </a:r>
          </a:p>
          <a:p>
            <a:pPr marL="0" indent="0" algn="ctr">
              <a:spcBef>
                <a:spcPts val="200"/>
              </a:spcBef>
              <a:spcAft>
                <a:spcPts val="0"/>
              </a:spcAft>
              <a:buNone/>
            </a:pPr>
            <a:r>
              <a:rPr lang="en-US" sz="1500" b="0" i="0">
                <a:solidFill>
                  <a:srgbClr val="FFFFFF"/>
                </a:solidFill>
                <a:latin typeface="Times New Roman"/>
                <a:ea typeface="Times New Roman"/>
                <a:cs typeface="Times New Roman"/>
              </a:rPr>
              <a:t>approves the request</a:t>
            </a:r>
          </a:p>
        </p:txBody>
      </p:sp>
      <p:sp>
        <p:nvSpPr>
          <p:cNvPr id="904" name="Box 904"/>
          <p:cNvSpPr/>
          <p:nvPr/>
        </p:nvSpPr>
        <p:spPr>
          <a:xfrm>
            <a:off x="640000" y="4000000"/>
            <a:ext cx="2200000" cy="1000000"/>
          </a:xfrm>
          <a:prstGeom prst="roundRect">
            <a:avLst/>
          </a:prstGeom>
          <a:solidFill>
            <a:srgbClr val="C00000"/>
          </a:solidFill>
          <a:ln>
            <a:noFill/>
          </a:ln>
        </p:spPr>
        <p:txBody>
          <a:bodyPr wrap="square" lIns="91425" tIns="45700" rIns="91425" bIns="45700" anchor="ctr">
            <a:normAutofit/>
          </a:bodyPr>
          <a:lstStyle/>
          <a:p>
            <a:pPr marL="0" indent="0" algn="ctr">
              <a:spcBef>
                <a:spcPts val="0"/>
              </a:spcBef>
              <a:spcAft>
                <a:spcPts val="0"/>
              </a:spcAft>
              <a:buNone/>
            </a:pPr>
            <a:r>
              <a:rPr lang="en-US" sz="1900" b="1" i="0">
                <a:solidFill>
                  <a:srgbClr val="FFFFFF"/>
                </a:solidFill>
                <a:latin typeface="Times New Roman"/>
                <a:ea typeface="Times New Roman"/>
                <a:cs typeface="Times New Roman"/>
              </a:rPr>
              <a:t>6. Certificate</a:t>
            </a:r>
          </a:p>
          <a:p>
            <a:pPr marL="0" indent="0" algn="ctr">
              <a:spcBef>
                <a:spcPts val="200"/>
              </a:spcBef>
              <a:spcAft>
                <a:spcPts val="0"/>
              </a:spcAft>
              <a:buNone/>
            </a:pPr>
            <a:r>
              <a:rPr lang="en-US" sz="1500" b="0" i="0">
                <a:solidFill>
                  <a:srgbClr val="FFFFFF"/>
                </a:solidFill>
                <a:latin typeface="Times New Roman"/>
                <a:ea typeface="Times New Roman"/>
                <a:cs typeface="Times New Roman"/>
              </a:rPr>
              <a:t>user gets status/receipt</a:t>
            </a:r>
          </a:p>
        </p:txBody>
      </p:sp>
      <p:sp>
        <p:nvSpPr>
          <p:cNvPr id="905" name="Box 905"/>
          <p:cNvSpPr/>
          <p:nvPr/>
        </p:nvSpPr>
        <p:spPr>
          <a:xfrm>
            <a:off x="3472000" y="4000000"/>
            <a:ext cx="2200000" cy="1000000"/>
          </a:xfrm>
          <a:prstGeom prst="roundRect">
            <a:avLst/>
          </a:prstGeom>
          <a:solidFill>
            <a:srgbClr val="2F5597"/>
          </a:solidFill>
          <a:ln>
            <a:noFill/>
          </a:ln>
        </p:spPr>
        <p:txBody>
          <a:bodyPr wrap="square" lIns="91425" tIns="45700" rIns="91425" bIns="45700" anchor="ctr">
            <a:normAutofit/>
          </a:bodyPr>
          <a:lstStyle/>
          <a:p>
            <a:pPr marL="0" indent="0" algn="ctr">
              <a:spcBef>
                <a:spcPts val="0"/>
              </a:spcBef>
              <a:spcAft>
                <a:spcPts val="0"/>
              </a:spcAft>
              <a:buNone/>
            </a:pPr>
            <a:r>
              <a:rPr lang="en-US" sz="1900" b="1" i="0">
                <a:solidFill>
                  <a:srgbClr val="FFFFFF"/>
                </a:solidFill>
                <a:latin typeface="Times New Roman"/>
                <a:ea typeface="Times New Roman"/>
                <a:cs typeface="Times New Roman"/>
              </a:rPr>
              <a:t>5. Recycling</a:t>
            </a:r>
          </a:p>
          <a:p>
            <a:pPr marL="0" indent="0" algn="ctr">
              <a:spcBef>
                <a:spcPts val="200"/>
              </a:spcBef>
              <a:spcAft>
                <a:spcPts val="0"/>
              </a:spcAft>
              <a:buNone/>
            </a:pPr>
            <a:r>
              <a:rPr lang="en-US" sz="1500" b="0" i="0">
                <a:solidFill>
                  <a:srgbClr val="FFFFFF"/>
                </a:solidFill>
                <a:latin typeface="Times New Roman"/>
                <a:ea typeface="Times New Roman"/>
                <a:cs typeface="Times New Roman"/>
              </a:rPr>
              <a:t>authorised recycler</a:t>
            </a:r>
          </a:p>
        </p:txBody>
      </p:sp>
      <p:sp>
        <p:nvSpPr>
          <p:cNvPr id="906" name="Box 906"/>
          <p:cNvSpPr/>
          <p:nvPr/>
        </p:nvSpPr>
        <p:spPr>
          <a:xfrm>
            <a:off x="6304000" y="4000000"/>
            <a:ext cx="2200000" cy="1000000"/>
          </a:xfrm>
          <a:prstGeom prst="roundRect">
            <a:avLst/>
          </a:prstGeom>
          <a:solidFill>
            <a:srgbClr val="2F5597"/>
          </a:solidFill>
          <a:ln>
            <a:noFill/>
          </a:ln>
        </p:spPr>
        <p:txBody>
          <a:bodyPr wrap="square" lIns="91425" tIns="45700" rIns="91425" bIns="45700" anchor="ctr">
            <a:normAutofit/>
          </a:bodyPr>
          <a:lstStyle/>
          <a:p>
            <a:pPr marL="0" indent="0" algn="ctr">
              <a:spcBef>
                <a:spcPts val="0"/>
              </a:spcBef>
              <a:spcAft>
                <a:spcPts val="0"/>
              </a:spcAft>
              <a:buNone/>
            </a:pPr>
            <a:r>
              <a:rPr lang="en-US" sz="1900" b="1" i="0">
                <a:solidFill>
                  <a:srgbClr val="FFFFFF"/>
                </a:solidFill>
                <a:latin typeface="Times New Roman"/>
                <a:ea typeface="Times New Roman"/>
                <a:cs typeface="Times New Roman"/>
              </a:rPr>
              <a:t>4. Pickup</a:t>
            </a:r>
          </a:p>
          <a:p>
            <a:pPr marL="0" indent="0" algn="ctr">
              <a:spcBef>
                <a:spcPts val="200"/>
              </a:spcBef>
              <a:spcAft>
                <a:spcPts val="0"/>
              </a:spcAft>
              <a:buNone/>
            </a:pPr>
            <a:r>
              <a:rPr lang="en-US" sz="1500" b="0" i="0">
                <a:solidFill>
                  <a:srgbClr val="FFFFFF"/>
                </a:solidFill>
                <a:latin typeface="Times New Roman"/>
                <a:ea typeface="Times New Roman"/>
                <a:cs typeface="Times New Roman"/>
              </a:rPr>
              <a:t>collector visits the user</a:t>
            </a:r>
          </a:p>
        </p:txBody>
      </p:sp>
      <p:sp>
        <p:nvSpPr>
          <p:cNvPr id="907" name="Arrow 907"/>
          <p:cNvSpPr/>
          <p:nvPr/>
        </p:nvSpPr>
        <p:spPr>
          <a:xfrm>
            <a:off x="2930000" y="2500000"/>
            <a:ext cx="452000" cy="300000"/>
          </a:xfrm>
          <a:prstGeom prst="rightArrow">
            <a:avLst/>
          </a:prstGeom>
          <a:solidFill>
            <a:srgbClr val="7F7F7F"/>
          </a:solidFill>
          <a:ln>
            <a:noFill/>
          </a:ln>
        </p:spPr>
        <p:txBody>
          <a:bodyPr wrap="square" lIns="91425" tIns="45700" rIns="91425" bIns="45700" anchor="ctr">
            <a:normAutofit fontScale="25000" lnSpcReduction="20000"/>
          </a:bodyPr>
          <a:lstStyle/>
          <a:p>
            <a:endParaRPr/>
          </a:p>
        </p:txBody>
      </p:sp>
      <p:sp>
        <p:nvSpPr>
          <p:cNvPr id="908" name="Arrow 908"/>
          <p:cNvSpPr/>
          <p:nvPr/>
        </p:nvSpPr>
        <p:spPr>
          <a:xfrm>
            <a:off x="5762000" y="2500000"/>
            <a:ext cx="452000" cy="300000"/>
          </a:xfrm>
          <a:prstGeom prst="rightArrow">
            <a:avLst/>
          </a:prstGeom>
          <a:solidFill>
            <a:srgbClr val="7F7F7F"/>
          </a:solidFill>
          <a:ln>
            <a:noFill/>
          </a:ln>
        </p:spPr>
        <p:txBody>
          <a:bodyPr wrap="square" lIns="91425" tIns="45700" rIns="91425" bIns="45700" anchor="ctr">
            <a:normAutofit fontScale="25000" lnSpcReduction="20000"/>
          </a:bodyPr>
          <a:lstStyle/>
          <a:p>
            <a:endParaRPr/>
          </a:p>
        </p:txBody>
      </p:sp>
      <p:sp>
        <p:nvSpPr>
          <p:cNvPr id="909" name="Arrow 909"/>
          <p:cNvSpPr/>
          <p:nvPr/>
        </p:nvSpPr>
        <p:spPr>
          <a:xfrm>
            <a:off x="7254000" y="3240000"/>
            <a:ext cx="300000" cy="670000"/>
          </a:xfrm>
          <a:prstGeom prst="downArrow">
            <a:avLst/>
          </a:prstGeom>
          <a:solidFill>
            <a:srgbClr val="7F7F7F"/>
          </a:solidFill>
          <a:ln>
            <a:noFill/>
          </a:ln>
        </p:spPr>
        <p:txBody>
          <a:bodyPr wrap="square" lIns="91425" tIns="45700" rIns="91425" bIns="45700" anchor="ctr">
            <a:normAutofit/>
          </a:bodyPr>
          <a:lstStyle/>
          <a:p>
            <a:endParaRPr/>
          </a:p>
        </p:txBody>
      </p:sp>
      <p:sp>
        <p:nvSpPr>
          <p:cNvPr id="910" name="Arrow 910"/>
          <p:cNvSpPr/>
          <p:nvPr/>
        </p:nvSpPr>
        <p:spPr>
          <a:xfrm>
            <a:off x="5762000" y="4350000"/>
            <a:ext cx="452000" cy="300000"/>
          </a:xfrm>
          <a:prstGeom prst="leftArrow">
            <a:avLst/>
          </a:prstGeom>
          <a:solidFill>
            <a:srgbClr val="7F7F7F"/>
          </a:solidFill>
          <a:ln>
            <a:noFill/>
          </a:ln>
        </p:spPr>
        <p:txBody>
          <a:bodyPr wrap="square" lIns="91425" tIns="45700" rIns="91425" bIns="45700" anchor="ctr">
            <a:normAutofit fontScale="25000" lnSpcReduction="20000"/>
          </a:bodyPr>
          <a:lstStyle/>
          <a:p>
            <a:endParaRPr/>
          </a:p>
        </p:txBody>
      </p:sp>
      <p:sp>
        <p:nvSpPr>
          <p:cNvPr id="911" name="Arrow 911"/>
          <p:cNvSpPr/>
          <p:nvPr/>
        </p:nvSpPr>
        <p:spPr>
          <a:xfrm>
            <a:off x="2930000" y="4350000"/>
            <a:ext cx="452000" cy="300000"/>
          </a:xfrm>
          <a:prstGeom prst="leftArrow">
            <a:avLst/>
          </a:prstGeom>
          <a:solidFill>
            <a:srgbClr val="7F7F7F"/>
          </a:solidFill>
          <a:ln>
            <a:noFill/>
          </a:ln>
        </p:spPr>
        <p:txBody>
          <a:bodyPr wrap="square" lIns="91425" tIns="45700" rIns="91425" bIns="45700" anchor="ctr">
            <a:normAutofit fontScale="25000" lnSpcReduction="20000"/>
          </a:bodyPr>
          <a:lstStyle/>
          <a:p>
            <a:endParaRPr/>
          </a:p>
        </p:txBody>
      </p:sp>
      <p:sp>
        <p:nvSpPr>
          <p:cNvPr id="912" name="Note 912"/>
          <p:cNvSpPr/>
          <p:nvPr/>
        </p:nvSpPr>
        <p:spPr>
          <a:xfrm>
            <a:off x="640000" y="5300000"/>
            <a:ext cx="7864000" cy="900000"/>
          </a:xfrm>
          <a:prstGeom prst="rect">
            <a:avLst/>
          </a:prstGeom>
          <a:solidFill>
            <a:srgbClr val="EAF0FA"/>
          </a:solidFill>
          <a:ln>
            <a:noFill/>
          </a:ln>
        </p:spPr>
        <p:txBody>
          <a:bodyPr wrap="square" lIns="91425" tIns="45700" rIns="91425" bIns="45700" anchor="ctr">
            <a:normAutofit/>
          </a:bodyPr>
          <a:lstStyle/>
          <a:p>
            <a:pPr marL="0" indent="0" algn="l">
              <a:spcBef>
                <a:spcPts val="0"/>
              </a:spcBef>
              <a:spcAft>
                <a:spcPts val="0"/>
              </a:spcAft>
              <a:buNone/>
            </a:pPr>
            <a:r>
              <a:rPr lang="en-US" sz="2000" b="1" i="0">
                <a:solidFill>
                  <a:schemeClr val="dk1"/>
                </a:solidFill>
                <a:latin typeface="Times New Roman"/>
                <a:ea typeface="Times New Roman"/>
                <a:cs typeface="Times New Roman"/>
              </a:rPr>
              <a:t>Safe recycling: </a:t>
            </a:r>
            <a:r>
              <a:rPr lang="en-US" sz="2000" b="0" i="0">
                <a:solidFill>
                  <a:schemeClr val="dk1"/>
                </a:solidFill>
                <a:latin typeface="Times New Roman"/>
                <a:ea typeface="Times New Roman"/>
                <a:cs typeface="Times New Roman"/>
              </a:rPr>
              <a:t>metals like copper and gold are recovered and toxic waste stays out of landfills.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a:t>3.3 Technology used</a:t>
            </a: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800" b="1" i="0">
                <a:solidFill>
                  <a:srgbClr val="1F3864"/>
                </a:solidFill>
                <a:latin typeface="Times New Roman"/>
                <a:ea typeface="Times New Roman"/>
                <a:cs typeface="Times New Roman"/>
              </a:rPr>
              <a:t>Frontend</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HTML, CSS and JavaScript – pages for users, admin and recyclers.</a:t>
            </a:r>
          </a:p>
          <a:p>
            <a:pPr marL="0" indent="0" algn="l">
              <a:spcBef>
                <a:spcPts val="1000"/>
              </a:spcBef>
              <a:spcAft>
                <a:spcPts val="0"/>
              </a:spcAft>
              <a:buNone/>
            </a:pPr>
            <a:r>
              <a:rPr lang="en-US" sz="2800" b="1" i="0">
                <a:solidFill>
                  <a:srgbClr val="1F3864"/>
                </a:solidFill>
                <a:latin typeface="Times New Roman"/>
                <a:ea typeface="Times New Roman"/>
                <a:cs typeface="Times New Roman"/>
              </a:rPr>
              <a:t>Backend</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PHP – handles login, requests and status updates. (Runs on XAMPP server)</a:t>
            </a:r>
          </a:p>
          <a:p>
            <a:pPr marL="0" indent="0" algn="l">
              <a:spcBef>
                <a:spcPts val="1000"/>
              </a:spcBef>
              <a:spcAft>
                <a:spcPts val="0"/>
              </a:spcAft>
              <a:buNone/>
            </a:pPr>
            <a:r>
              <a:rPr lang="en-US" sz="2800" b="1" i="0">
                <a:solidFill>
                  <a:srgbClr val="1F3864"/>
                </a:solidFill>
                <a:latin typeface="Times New Roman"/>
                <a:ea typeface="Times New Roman"/>
                <a:cs typeface="Times New Roman"/>
              </a:rPr>
              <a:t>Database</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MySQL – stores users, e-waste requests and recycler details.</a:t>
            </a: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4. Advantages / Disadvantages</a:t>
            </a:r>
            <a:endParaRPr/>
          </a:p>
        </p:txBody>
      </p:sp>
      <p:sp>
        <p:nvSpPr>
          <p:cNvPr id="546" name="Google Shape;546;p19"/>
          <p:cNvSpPr txBox="1">
            <a:spLocks noGrp="1"/>
          </p:cNvSpPr>
          <p:nvPr>
            <p:ph type="body" idx="1"/>
          </p:nvPr>
        </p:nvSpPr>
        <p:spPr>
          <a:xfrm>
            <a:off x="457200" y="1219200"/>
            <a:ext cx="4038600" cy="5000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800" b="1" i="0">
                <a:solidFill>
                  <a:srgbClr val="1F3864"/>
                </a:solidFill>
                <a:latin typeface="Times New Roman"/>
                <a:ea typeface="Times New Roman"/>
                <a:cs typeface="Times New Roman"/>
              </a:rPr>
              <a:t>Advantages</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Makes e-waste pickup easy.</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Saves time and effort.</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Reduces pollution.</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Recovers useful metals.</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Spreads awareness.</a:t>
            </a:r>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sp>
        <p:nvSpPr>
          <p:cNvPr id="913" name="Disadvantages 913"/>
          <p:cNvSpPr/>
          <p:nvPr/>
        </p:nvSpPr>
        <p:spPr>
          <a:xfrm>
            <a:off x="4648200" y="1219200"/>
            <a:ext cx="4038600" cy="5000000"/>
          </a:xfrm>
          <a:prstGeom prst="rect">
            <a:avLst/>
          </a:prstGeom>
          <a:noFill/>
          <a:ln w="25400">
            <a:solidFill>
              <a:schemeClr val="accent1"/>
            </a:solidFill>
          </a:ln>
        </p:spPr>
        <p:txBody>
          <a:bodyPr wrap="square" lIns="91425" tIns="45700" rIns="91425" bIns="45700" anchor="t">
            <a:normAutofit/>
          </a:bodyPr>
          <a:lstStyle/>
          <a:p>
            <a:pPr marL="0" indent="0" algn="l">
              <a:spcBef>
                <a:spcPts val="0"/>
              </a:spcBef>
              <a:spcAft>
                <a:spcPts val="0"/>
              </a:spcAft>
              <a:buNone/>
            </a:pPr>
            <a:r>
              <a:rPr lang="en-US" sz="2800" b="1" i="0">
                <a:solidFill>
                  <a:srgbClr val="1F3864"/>
                </a:solidFill>
                <a:latin typeface="Times New Roman"/>
                <a:ea typeface="Times New Roman"/>
                <a:cs typeface="Times New Roman"/>
              </a:rPr>
              <a:t>Disadvantages</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Needs internet and a device.</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Users must share their address.</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Needs recyclers in every area.</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Needs people to use it regularly.</a:t>
            </a:r>
          </a:p>
          <a:p>
            <a:pPr marL="285750" indent="-285750" algn="l">
              <a:spcBef>
                <a:spcPts val="900"/>
              </a:spcBef>
              <a:spcAft>
                <a:spcPts val="0"/>
              </a:spcAft>
              <a:buClr>
                <a:schemeClr val="dk1"/>
              </a:buClr>
              <a:buSzPct val="100000"/>
              <a:buFont typeface="Arial"/>
              <a:buChar char="•"/>
            </a:pPr>
            <a:r>
              <a:rPr lang="en-US" sz="2400" b="0" i="0">
                <a:solidFill>
                  <a:schemeClr val="dk1"/>
                </a:solidFill>
                <a:latin typeface="Times New Roman"/>
                <a:ea typeface="Times New Roman"/>
                <a:cs typeface="Times New Roman"/>
              </a:rPr>
              <a:t>Needs regular updating.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5. Conclusion</a:t>
            </a:r>
            <a:endParaRP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85750" indent="-285750" algn="l">
              <a:spcBef>
                <a:spcPts val="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E-waste is growing fast and is a danger to health and nature.</a:t>
            </a:r>
          </a:p>
          <a:p>
            <a:pPr marL="285750" indent="-285750" algn="l">
              <a:spcBef>
                <a:spcPts val="100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Our portal connects users with authorised collectors and recyclers.</a:t>
            </a:r>
          </a:p>
          <a:p>
            <a:pPr marL="285750" indent="-285750" algn="l">
              <a:spcBef>
                <a:spcPts val="100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Users can request pickup and track it from home.</a:t>
            </a:r>
          </a:p>
          <a:p>
            <a:pPr marL="285750" indent="-285750" algn="l">
              <a:spcBef>
                <a:spcPts val="100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Proper recycling reduces pollution and recovers useful metals.</a:t>
            </a:r>
          </a:p>
          <a:p>
            <a:pPr marL="285750" indent="-285750" algn="l">
              <a:spcBef>
                <a:spcPts val="1000"/>
              </a:spcBef>
              <a:spcAft>
                <a:spcPts val="0"/>
              </a:spcAft>
              <a:buClr>
                <a:schemeClr val="dk1"/>
              </a:buClr>
              <a:buSzPct val="100000"/>
              <a:buFont typeface="Arial"/>
              <a:buChar char="•"/>
            </a:pPr>
            <a:r>
              <a:rPr lang="en-US" sz="2600" b="0" i="0">
                <a:solidFill>
                  <a:schemeClr val="dk1"/>
                </a:solidFill>
                <a:latin typeface="Times New Roman"/>
                <a:ea typeface="Times New Roman"/>
                <a:cs typeface="Times New Roman"/>
              </a:rPr>
              <a:t>Future: make a mobile app, reward points and a map of collection centres.</a:t>
            </a:r>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6. Project Initiation</a:t>
            </a:r>
            <a:endParaRPr/>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spcBef>
                <a:spcPts val="0"/>
              </a:spcBef>
              <a:buSzPct val="100000"/>
              <a:buNone/>
            </a:pPr>
            <a:r>
              <a:rPr lang="en-US" sz="2500" dirty="0"/>
              <a:t>The E-Waste Management and Recycling Portal is a web-based project designed to make disposal of old electronic items easy and safe. Many people keep or throw away old phones, laptops and batteries because they do not know where to give them. This causes pollution and wastes useful materials.</a:t>
            </a:r>
          </a:p>
          <a:p>
            <a:pPr marL="0" indent="0">
              <a:spcBef>
                <a:spcPts val="0"/>
              </a:spcBef>
              <a:buSzPct val="100000"/>
              <a:buNone/>
            </a:pPr>
            <a:endParaRPr lang="en-US" sz="2500" dirty="0"/>
          </a:p>
          <a:p>
            <a:pPr marL="0" indent="0">
              <a:spcBef>
                <a:spcPts val="0"/>
              </a:spcBef>
              <a:buSzPct val="100000"/>
              <a:buNone/>
            </a:pPr>
            <a:r>
              <a:rPr lang="en-US" sz="2500" dirty="0"/>
              <a:t>Our portal lets users register, request pickup of e-waste and find authorised recyclers. The admin and collectors manage the requests and update the status. In the future, it can be extended into a mobile application with reward points for users.</a:t>
            </a:r>
            <a:endParaRPr lang="en-US" sz="2500" b="0" i="0" dirty="0">
              <a:solidFill>
                <a:schemeClr val="dk1"/>
              </a:solidFill>
              <a:latin typeface="Times New Roman"/>
              <a:ea typeface="Times New Roman"/>
              <a:cs typeface="Times New Roman"/>
            </a:endParaRPr>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sz="3200"/>
              <a:t>6.1 Description of problem statement</a:t>
            </a:r>
          </a:p>
        </p:txBody>
      </p:sp>
      <p:sp>
        <p:nvSpPr>
          <p:cNvPr id="567" name="Google Shape;567;p22"/>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800" b="1" i="0">
                <a:solidFill>
                  <a:srgbClr val="1F3864"/>
                </a:solidFill>
                <a:latin typeface="Times New Roman"/>
                <a:ea typeface="Times New Roman"/>
                <a:cs typeface="Times New Roman"/>
              </a:rPr>
              <a:t>Problem</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People do not know where to give old electronic items.</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E-waste is thrown in dustbins or sold to unsafe scrap dealers.</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There is no simple way to request pickup or track recycling.</a:t>
            </a:r>
          </a:p>
          <a:p>
            <a:pPr marL="0" indent="0" algn="l">
              <a:spcBef>
                <a:spcPts val="1000"/>
              </a:spcBef>
              <a:spcAft>
                <a:spcPts val="0"/>
              </a:spcAft>
              <a:buNone/>
            </a:pPr>
            <a:r>
              <a:rPr lang="en-US" sz="2800" b="1" i="0">
                <a:solidFill>
                  <a:srgbClr val="1F3864"/>
                </a:solidFill>
                <a:latin typeface="Times New Roman"/>
                <a:ea typeface="Times New Roman"/>
                <a:cs typeface="Times New Roman"/>
              </a:rPr>
              <a:t>Problem statement</a:t>
            </a:r>
          </a:p>
          <a:p>
            <a:pPr marL="0" indent="0" algn="l">
              <a:spcBef>
                <a:spcPts val="500"/>
              </a:spcBef>
              <a:spcAft>
                <a:spcPts val="0"/>
              </a:spcAft>
              <a:buNone/>
            </a:pPr>
            <a:r>
              <a:rPr lang="en-US" sz="2500" b="0" i="0">
                <a:solidFill>
                  <a:schemeClr val="dk1"/>
                </a:solidFill>
                <a:latin typeface="Times New Roman"/>
                <a:ea typeface="Times New Roman"/>
                <a:cs typeface="Times New Roman"/>
              </a:rPr>
              <a:t>To make a web portal where users can request pickup of e-waste and send it to authorised recyclers for safe recycling.</a:t>
            </a:r>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a:t>6.2 Scope and objectives</a:t>
            </a:r>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800" b="1" i="0">
                <a:solidFill>
                  <a:srgbClr val="1F3864"/>
                </a:solidFill>
                <a:latin typeface="Times New Roman"/>
                <a:ea typeface="Times New Roman"/>
                <a:cs typeface="Times New Roman"/>
              </a:rPr>
              <a:t>Objectives</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To understand what e-waste is and why it is harmful.</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To build a portal for pickup requests and recycler details.</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To let admin and collectors track every request.</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To spread awareness about safe recycling.</a:t>
            </a:r>
          </a:p>
          <a:p>
            <a:pPr marL="0" indent="0" algn="l">
              <a:spcBef>
                <a:spcPts val="1000"/>
              </a:spcBef>
              <a:spcAft>
                <a:spcPts val="0"/>
              </a:spcAft>
              <a:buNone/>
            </a:pPr>
            <a:r>
              <a:rPr lang="en-US" sz="2800" b="1" i="0">
                <a:solidFill>
                  <a:srgbClr val="1F3864"/>
                </a:solidFill>
                <a:latin typeface="Times New Roman"/>
                <a:ea typeface="Times New Roman"/>
                <a:cs typeface="Times New Roman"/>
              </a:rPr>
              <a:t>Scope</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Works for homes, colleges and small offices in a city.</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Can be extended to a mobile app later.</a:t>
            </a:r>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a:t>6.3 Stake holder</a:t>
            </a:r>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graphicFrame>
        <p:nvGraphicFramePr>
          <p:cNvPr id="914" name="Table 914"/>
          <p:cNvGraphicFramePr/>
          <p:nvPr>
            <p:extLst>
              <p:ext uri="{D42A27DB-BD31-4B8C-83A1-F6EECF244321}">
                <p14:modId xmlns:p14="http://schemas.microsoft.com/office/powerpoint/2010/main" val="2547298123"/>
              </p:ext>
            </p:extLst>
          </p:nvPr>
        </p:nvGraphicFramePr>
        <p:xfrm>
          <a:off x="640000" y="1582880"/>
          <a:ext cx="7864000" cy="4560000"/>
        </p:xfrm>
        <a:graphic>
          <a:graphicData uri="http://schemas.openxmlformats.org/drawingml/2006/table">
            <a:tbl>
              <a:tblPr firstRow="1"/>
              <a:tblGrid>
                <a:gridCol w="3000000">
                  <a:extLst>
                    <a:ext uri="{9D8B030D-6E8A-4147-A177-3AD203B41FA5}">
                      <a16:colId xmlns:a16="http://schemas.microsoft.com/office/drawing/2014/main" val="20000"/>
                    </a:ext>
                  </a:extLst>
                </a:gridCol>
                <a:gridCol w="4864000">
                  <a:extLst>
                    <a:ext uri="{9D8B030D-6E8A-4147-A177-3AD203B41FA5}">
                      <a16:colId xmlns:a16="http://schemas.microsoft.com/office/drawing/2014/main" val="20001"/>
                    </a:ext>
                  </a:extLst>
                </a:gridCol>
              </a:tblGrid>
              <a:tr h="760000">
                <a:tc>
                  <a:txBody>
                    <a:bodyPr/>
                    <a:lstStyle/>
                    <a:p>
                      <a:pPr algn="l">
                        <a:buNone/>
                      </a:pPr>
                      <a:r>
                        <a:rPr lang="en-US" sz="2200" b="1" i="0" dirty="0">
                          <a:solidFill>
                            <a:srgbClr val="FFFFFF"/>
                          </a:solidFill>
                          <a:latin typeface="Times New Roman"/>
                          <a:ea typeface="Times New Roman"/>
                          <a:cs typeface="Times New Roman"/>
                        </a:rPr>
                        <a:t>Stakeholder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2200" b="1" i="0">
                          <a:solidFill>
                            <a:srgbClr val="FFFFFF"/>
                          </a:solidFill>
                          <a:latin typeface="Times New Roman"/>
                          <a:ea typeface="Times New Roman"/>
                          <a:cs typeface="Times New Roman"/>
                        </a:rPr>
                        <a:t>How they are related</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extLst>
                  <a:ext uri="{0D108BD9-81ED-4DB2-BD59-A6C34878D82A}">
                    <a16:rowId xmlns:a16="http://schemas.microsoft.com/office/drawing/2014/main" val="10000"/>
                  </a:ext>
                </a:extLst>
              </a:tr>
              <a:tr h="760000">
                <a:tc>
                  <a:txBody>
                    <a:bodyPr/>
                    <a:lstStyle/>
                    <a:p>
                      <a:pPr algn="l">
                        <a:buNone/>
                      </a:pPr>
                      <a:r>
                        <a:rPr lang="en-US" sz="2200" b="1" i="0" dirty="0">
                          <a:solidFill>
                            <a:schemeClr val="dk1"/>
                          </a:solidFill>
                          <a:latin typeface="Times New Roman"/>
                          <a:ea typeface="Times New Roman"/>
                          <a:cs typeface="Times New Roman"/>
                        </a:rPr>
                        <a:t>Citizens / users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2200" b="0" i="0">
                          <a:solidFill>
                            <a:schemeClr val="dk1"/>
                          </a:solidFill>
                          <a:latin typeface="Times New Roman"/>
                          <a:ea typeface="Times New Roman"/>
                          <a:cs typeface="Times New Roman"/>
                        </a:rPr>
                        <a:t>Request pickup and learn recycling</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1"/>
                  </a:ext>
                </a:extLst>
              </a:tr>
              <a:tr h="760000">
                <a:tc>
                  <a:txBody>
                    <a:bodyPr/>
                    <a:lstStyle/>
                    <a:p>
                      <a:pPr algn="l">
                        <a:buNone/>
                      </a:pPr>
                      <a:r>
                        <a:rPr lang="en-US" sz="2200" b="1" i="0" dirty="0">
                          <a:solidFill>
                            <a:schemeClr val="dk1"/>
                          </a:solidFill>
                          <a:latin typeface="Times New Roman"/>
                          <a:ea typeface="Times New Roman"/>
                          <a:cs typeface="Times New Roman"/>
                        </a:rPr>
                        <a:t>Students (our team)</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2200" b="0" i="0" dirty="0">
                          <a:solidFill>
                            <a:schemeClr val="dk1"/>
                          </a:solidFill>
                          <a:latin typeface="Times New Roman"/>
                          <a:ea typeface="Times New Roman"/>
                          <a:cs typeface="Times New Roman"/>
                        </a:rPr>
                        <a:t>Make and present the project</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2"/>
                  </a:ext>
                </a:extLst>
              </a:tr>
              <a:tr h="760000">
                <a:tc>
                  <a:txBody>
                    <a:bodyPr/>
                    <a:lstStyle/>
                    <a:p>
                      <a:pPr algn="l">
                        <a:buNone/>
                      </a:pPr>
                      <a:r>
                        <a:rPr lang="en-US" sz="2200" b="1" i="0">
                          <a:solidFill>
                            <a:schemeClr val="dk1"/>
                          </a:solidFill>
                          <a:latin typeface="Times New Roman"/>
                          <a:ea typeface="Times New Roman"/>
                          <a:cs typeface="Times New Roman"/>
                        </a:rPr>
                        <a:t>Project guide / teacher</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2200" b="0" i="0">
                          <a:solidFill>
                            <a:schemeClr val="dk1"/>
                          </a:solidFill>
                          <a:latin typeface="Times New Roman"/>
                          <a:ea typeface="Times New Roman"/>
                          <a:cs typeface="Times New Roman"/>
                        </a:rPr>
                        <a:t>Guides and checks our work</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3"/>
                  </a:ext>
                </a:extLst>
              </a:tr>
              <a:tr h="760000">
                <a:tc>
                  <a:txBody>
                    <a:bodyPr/>
                    <a:lstStyle/>
                    <a:p>
                      <a:pPr algn="l">
                        <a:buNone/>
                      </a:pPr>
                      <a:r>
                        <a:rPr lang="en-US" sz="2200" b="1" i="0">
                          <a:solidFill>
                            <a:schemeClr val="dk1"/>
                          </a:solidFill>
                          <a:latin typeface="Times New Roman"/>
                          <a:ea typeface="Times New Roman"/>
                          <a:cs typeface="Times New Roman"/>
                        </a:rPr>
                        <a:t>HOD / Department</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2200" b="0" i="0">
                          <a:solidFill>
                            <a:schemeClr val="dk1"/>
                          </a:solidFill>
                          <a:latin typeface="Times New Roman"/>
                          <a:ea typeface="Times New Roman"/>
                          <a:cs typeface="Times New Roman"/>
                        </a:rPr>
                        <a:t>Gives approval</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4"/>
                  </a:ext>
                </a:extLst>
              </a:tr>
              <a:tr h="760000">
                <a:tc>
                  <a:txBody>
                    <a:bodyPr/>
                    <a:lstStyle/>
                    <a:p>
                      <a:pPr algn="l">
                        <a:buNone/>
                      </a:pPr>
                      <a:r>
                        <a:rPr lang="en-US" sz="2200" b="1" i="0">
                          <a:solidFill>
                            <a:schemeClr val="dk1"/>
                          </a:solidFill>
                          <a:latin typeface="Times New Roman"/>
                          <a:ea typeface="Times New Roman"/>
                          <a:cs typeface="Times New Roman"/>
                        </a:rPr>
                        <a:t>Authorised recyclers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2200" b="0" i="0" dirty="0">
                          <a:solidFill>
                            <a:schemeClr val="dk1"/>
                          </a:solidFill>
                          <a:latin typeface="Times New Roman"/>
                          <a:ea typeface="Times New Roman"/>
                          <a:cs typeface="Times New Roman"/>
                        </a:rPr>
                        <a:t>Receive e-waste and recycle it safely</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a:t>6.4 Seminar execution plan</a:t>
            </a:r>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graphicFrame>
        <p:nvGraphicFramePr>
          <p:cNvPr id="902" name="Table 902"/>
          <p:cNvGraphicFramePr/>
          <p:nvPr/>
        </p:nvGraphicFramePr>
        <p:xfrm>
          <a:off x="640000" y="1330000"/>
          <a:ext cx="7864000" cy="4950000"/>
        </p:xfrm>
        <a:graphic>
          <a:graphicData uri="http://schemas.openxmlformats.org/drawingml/2006/table">
            <a:tbl>
              <a:tblPr firstRow="1"/>
              <a:tblGrid>
                <a:gridCol w="1300000">
                  <a:extLst>
                    <a:ext uri="{9D8B030D-6E8A-4147-A177-3AD203B41FA5}">
                      <a16:colId xmlns:a16="http://schemas.microsoft.com/office/drawing/2014/main" val="20000"/>
                    </a:ext>
                  </a:extLst>
                </a:gridCol>
                <a:gridCol w="4964000">
                  <a:extLst>
                    <a:ext uri="{9D8B030D-6E8A-4147-A177-3AD203B41FA5}">
                      <a16:colId xmlns:a16="http://schemas.microsoft.com/office/drawing/2014/main" val="20001"/>
                    </a:ext>
                  </a:extLst>
                </a:gridCol>
                <a:gridCol w="1600000">
                  <a:extLst>
                    <a:ext uri="{9D8B030D-6E8A-4147-A177-3AD203B41FA5}">
                      <a16:colId xmlns:a16="http://schemas.microsoft.com/office/drawing/2014/main" val="20002"/>
                    </a:ext>
                  </a:extLst>
                </a:gridCol>
              </a:tblGrid>
              <a:tr h="450000">
                <a:tc>
                  <a:txBody>
                    <a:bodyPr/>
                    <a:lstStyle/>
                    <a:p>
                      <a:pPr algn="l">
                        <a:buNone/>
                      </a:pPr>
                      <a:r>
                        <a:rPr lang="en-US" sz="1800" b="1" i="0">
                          <a:solidFill>
                            <a:srgbClr val="FFFFFF"/>
                          </a:solidFill>
                          <a:latin typeface="Times New Roman"/>
                          <a:ea typeface="Times New Roman"/>
                          <a:cs typeface="Times New Roman"/>
                        </a:rPr>
                        <a:t>Step</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800" b="1" i="0">
                          <a:solidFill>
                            <a:srgbClr val="FFFFFF"/>
                          </a:solidFill>
                          <a:latin typeface="Times New Roman"/>
                          <a:ea typeface="Times New Roman"/>
                          <a:cs typeface="Times New Roman"/>
                        </a:rPr>
                        <a:t>Work to do</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tc>
                  <a:txBody>
                    <a:bodyPr/>
                    <a:lstStyle/>
                    <a:p>
                      <a:pPr algn="l">
                        <a:buNone/>
                      </a:pPr>
                      <a:r>
                        <a:rPr lang="en-US" sz="1800" b="1" i="0">
                          <a:solidFill>
                            <a:srgbClr val="FFFFFF"/>
                          </a:solidFill>
                          <a:latin typeface="Times New Roman"/>
                          <a:ea typeface="Times New Roman"/>
                          <a:cs typeface="Times New Roman"/>
                        </a:rPr>
                        <a:t>Time</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1F3864"/>
                    </a:solidFill>
                  </a:tcPr>
                </a:tc>
                <a:extLst>
                  <a:ext uri="{0D108BD9-81ED-4DB2-BD59-A6C34878D82A}">
                    <a16:rowId xmlns:a16="http://schemas.microsoft.com/office/drawing/2014/main" val="10000"/>
                  </a:ext>
                </a:extLst>
              </a:tr>
              <a:tr h="450000">
                <a:tc>
                  <a:txBody>
                    <a:bodyPr/>
                    <a:lstStyle/>
                    <a:p>
                      <a:pPr algn="l">
                        <a:buNone/>
                      </a:pPr>
                      <a:r>
                        <a:rPr lang="en-US" sz="1800" b="1" i="0">
                          <a:solidFill>
                            <a:schemeClr val="dk1"/>
                          </a:solidFill>
                          <a:latin typeface="Times New Roman"/>
                          <a:ea typeface="Times New Roman"/>
                          <a:cs typeface="Times New Roman"/>
                        </a:rPr>
                        <a:t>1</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Select topic and study e-waste</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Week 1</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1"/>
                  </a:ext>
                </a:extLst>
              </a:tr>
              <a:tr h="450000">
                <a:tc>
                  <a:txBody>
                    <a:bodyPr/>
                    <a:lstStyle/>
                    <a:p>
                      <a:pPr algn="l">
                        <a:buNone/>
                      </a:pPr>
                      <a:r>
                        <a:rPr lang="en-US" sz="1800" b="1" i="0">
                          <a:solidFill>
                            <a:schemeClr val="dk1"/>
                          </a:solidFill>
                          <a:latin typeface="Times New Roman"/>
                          <a:ea typeface="Times New Roman"/>
                          <a:cs typeface="Times New Roman"/>
                        </a:rPr>
                        <a:t>2</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Literature survey (read papers)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Week 2</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2"/>
                  </a:ext>
                </a:extLst>
              </a:tr>
              <a:tr h="450000">
                <a:tc>
                  <a:txBody>
                    <a:bodyPr/>
                    <a:lstStyle/>
                    <a:p>
                      <a:pPr algn="l">
                        <a:buNone/>
                      </a:pPr>
                      <a:r>
                        <a:rPr lang="en-US" sz="1800" b="1" i="0">
                          <a:solidFill>
                            <a:schemeClr val="dk1"/>
                          </a:solidFill>
                          <a:latin typeface="Times New Roman"/>
                          <a:ea typeface="Times New Roman"/>
                          <a:cs typeface="Times New Roman"/>
                        </a:rPr>
                        <a:t>3</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Collect data of recyclers and rules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Week 3</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3"/>
                  </a:ext>
                </a:extLst>
              </a:tr>
              <a:tr h="450000">
                <a:tc>
                  <a:txBody>
                    <a:bodyPr/>
                    <a:lstStyle/>
                    <a:p>
                      <a:pPr algn="l">
                        <a:buNone/>
                      </a:pPr>
                      <a:r>
                        <a:rPr lang="en-US" sz="1800" b="1" i="0">
                          <a:solidFill>
                            <a:schemeClr val="dk1"/>
                          </a:solidFill>
                          <a:latin typeface="Times New Roman"/>
                          <a:ea typeface="Times New Roman"/>
                          <a:cs typeface="Times New Roman"/>
                        </a:rPr>
                        <a:t>4</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Design portal screens and database</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Week 4</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4"/>
                  </a:ext>
                </a:extLst>
              </a:tr>
              <a:tr h="450000">
                <a:tc>
                  <a:txBody>
                    <a:bodyPr/>
                    <a:lstStyle/>
                    <a:p>
                      <a:pPr algn="l">
                        <a:buNone/>
                      </a:pPr>
                      <a:r>
                        <a:rPr lang="en-US" sz="1800" b="1" i="0">
                          <a:solidFill>
                            <a:schemeClr val="dk1"/>
                          </a:solidFill>
                          <a:latin typeface="Times New Roman"/>
                          <a:ea typeface="Times New Roman"/>
                          <a:cs typeface="Times New Roman"/>
                        </a:rPr>
                        <a:t>5</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Make user registration and login</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Week 5</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5"/>
                  </a:ext>
                </a:extLst>
              </a:tr>
              <a:tr h="450000">
                <a:tc>
                  <a:txBody>
                    <a:bodyPr/>
                    <a:lstStyle/>
                    <a:p>
                      <a:pPr algn="l">
                        <a:buNone/>
                      </a:pPr>
                      <a:r>
                        <a:rPr lang="en-US" sz="1800" b="1" i="0">
                          <a:solidFill>
                            <a:schemeClr val="dk1"/>
                          </a:solidFill>
                          <a:latin typeface="Times New Roman"/>
                          <a:ea typeface="Times New Roman"/>
                          <a:cs typeface="Times New Roman"/>
                        </a:rPr>
                        <a:t>6</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Make pickup request and tracking</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Week 6</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6"/>
                  </a:ext>
                </a:extLst>
              </a:tr>
              <a:tr h="450000">
                <a:tc>
                  <a:txBody>
                    <a:bodyPr/>
                    <a:lstStyle/>
                    <a:p>
                      <a:pPr algn="l">
                        <a:buNone/>
                      </a:pPr>
                      <a:r>
                        <a:rPr lang="en-US" sz="1800" b="1" i="0">
                          <a:solidFill>
                            <a:schemeClr val="dk1"/>
                          </a:solidFill>
                          <a:latin typeface="Times New Roman"/>
                          <a:ea typeface="Times New Roman"/>
                          <a:cs typeface="Times New Roman"/>
                        </a:rPr>
                        <a:t>7</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Make admin and recycler panel</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Week 7</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7"/>
                  </a:ext>
                </a:extLst>
              </a:tr>
              <a:tr h="450000">
                <a:tc>
                  <a:txBody>
                    <a:bodyPr/>
                    <a:lstStyle/>
                    <a:p>
                      <a:pPr algn="l">
                        <a:buNone/>
                      </a:pPr>
                      <a:r>
                        <a:rPr lang="en-US" sz="1800" b="1" i="0">
                          <a:solidFill>
                            <a:schemeClr val="dk1"/>
                          </a:solidFill>
                          <a:latin typeface="Times New Roman"/>
                          <a:ea typeface="Times New Roman"/>
                          <a:cs typeface="Times New Roman"/>
                        </a:rPr>
                        <a:t>8</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Test the portal and fix errors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Week 8</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08"/>
                  </a:ext>
                </a:extLst>
              </a:tr>
              <a:tr h="450000">
                <a:tc>
                  <a:txBody>
                    <a:bodyPr/>
                    <a:lstStyle/>
                    <a:p>
                      <a:pPr algn="l">
                        <a:buNone/>
                      </a:pPr>
                      <a:r>
                        <a:rPr lang="en-US" sz="1800" b="1" i="0">
                          <a:solidFill>
                            <a:schemeClr val="dk1"/>
                          </a:solidFill>
                          <a:latin typeface="Times New Roman"/>
                          <a:ea typeface="Times New Roman"/>
                          <a:cs typeface="Times New Roman"/>
                        </a:rPr>
                        <a:t>9</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Final testing and corrections</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l">
                        <a:buNone/>
                      </a:pPr>
                      <a:r>
                        <a:rPr lang="en-US" sz="1800" b="0" i="0">
                          <a:solidFill>
                            <a:schemeClr val="dk1"/>
                          </a:solidFill>
                          <a:latin typeface="Times New Roman"/>
                          <a:ea typeface="Times New Roman"/>
                          <a:cs typeface="Times New Roman"/>
                        </a:rPr>
                        <a:t>Week 9</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10009"/>
                  </a:ext>
                </a:extLst>
              </a:tr>
              <a:tr h="450000">
                <a:tc>
                  <a:txBody>
                    <a:bodyPr/>
                    <a:lstStyle/>
                    <a:p>
                      <a:pPr algn="l">
                        <a:buNone/>
                      </a:pPr>
                      <a:r>
                        <a:rPr lang="en-US" sz="1800" b="1" i="0">
                          <a:solidFill>
                            <a:schemeClr val="dk1"/>
                          </a:solidFill>
                          <a:latin typeface="Times New Roman"/>
                          <a:ea typeface="Times New Roman"/>
                          <a:cs typeface="Times New Roman"/>
                        </a:rPr>
                        <a:t>10</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Make report and presentation</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tc>
                  <a:txBody>
                    <a:bodyPr/>
                    <a:lstStyle/>
                    <a:p>
                      <a:pPr algn="l">
                        <a:buNone/>
                      </a:pPr>
                      <a:r>
                        <a:rPr lang="en-US" sz="1800" b="0" i="0">
                          <a:solidFill>
                            <a:schemeClr val="dk1"/>
                          </a:solidFill>
                          <a:latin typeface="Times New Roman"/>
                          <a:ea typeface="Times New Roman"/>
                          <a:cs typeface="Times New Roman"/>
                        </a:rPr>
                        <a:t>Week 10</a:t>
                      </a:r>
                    </a:p>
                  </a:txBody>
                  <a:tcPr marL="91450" marR="91450" marT="45725" marB="45725" anchor="ctr">
                    <a:lnL w="12700">
                      <a:solidFill>
                        <a:schemeClr val="accent1"/>
                      </a:solidFill>
                    </a:lnL>
                    <a:lnR w="12700">
                      <a:solidFill>
                        <a:schemeClr val="accent1"/>
                      </a:solidFill>
                    </a:lnR>
                    <a:lnT w="12700">
                      <a:solidFill>
                        <a:schemeClr val="accent1"/>
                      </a:solidFill>
                    </a:lnT>
                    <a:lnB w="12700">
                      <a:solidFill>
                        <a:schemeClr val="accent1"/>
                      </a:solidFill>
                    </a:lnB>
                    <a:solidFill>
                      <a:srgbClr val="EAF0F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indent="0" algn="ctr">
              <a:buNone/>
            </a:pPr>
            <a:r>
              <a:rPr lang="en-US" sz="3200"/>
              <a:t>6.5 Platform / Equipment / Resources</a:t>
            </a:r>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800" b="1" i="0">
                <a:solidFill>
                  <a:srgbClr val="1F3864"/>
                </a:solidFill>
                <a:latin typeface="Times New Roman"/>
                <a:ea typeface="Times New Roman"/>
                <a:cs typeface="Times New Roman"/>
              </a:rPr>
              <a:t>Hardware</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Laptop / computer with 4 GB RAM and internet</a:t>
            </a:r>
          </a:p>
          <a:p>
            <a:pPr marL="0" indent="0" algn="l">
              <a:spcBef>
                <a:spcPts val="1000"/>
              </a:spcBef>
              <a:spcAft>
                <a:spcPts val="0"/>
              </a:spcAft>
              <a:buNone/>
            </a:pPr>
            <a:r>
              <a:rPr lang="en-US" sz="2800" b="1" i="0">
                <a:solidFill>
                  <a:srgbClr val="1F3864"/>
                </a:solidFill>
                <a:latin typeface="Times New Roman"/>
                <a:ea typeface="Times New Roman"/>
                <a:cs typeface="Times New Roman"/>
              </a:rPr>
              <a:t>Software</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HTML, CSS, JavaScript and PHP (VS Code)</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XAMPP server with MySQL database</a:t>
            </a:r>
          </a:p>
          <a:p>
            <a:pPr marL="0" indent="0" algn="l">
              <a:spcBef>
                <a:spcPts val="1000"/>
              </a:spcBef>
              <a:spcAft>
                <a:spcPts val="0"/>
              </a:spcAft>
              <a:buNone/>
            </a:pPr>
            <a:r>
              <a:rPr lang="en-US" sz="2800" b="1" i="0">
                <a:solidFill>
                  <a:srgbClr val="1F3864"/>
                </a:solidFill>
                <a:latin typeface="Times New Roman"/>
                <a:ea typeface="Times New Roman"/>
                <a:cs typeface="Times New Roman"/>
              </a:rPr>
              <a:t>Data (Information)</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CPCB list of authorised e-waste recyclers</a:t>
            </a:r>
          </a:p>
          <a:p>
            <a:pPr marL="285750" indent="-285750" algn="l">
              <a:spcBef>
                <a:spcPts val="500"/>
              </a:spcBef>
              <a:spcAft>
                <a:spcPts val="0"/>
              </a:spcAft>
              <a:buClr>
                <a:schemeClr val="dk1"/>
              </a:buClr>
              <a:buSzPct val="100000"/>
              <a:buFont typeface="Arial"/>
              <a:buChar char="•"/>
            </a:pPr>
            <a:r>
              <a:rPr lang="en-US" sz="2500" b="0" i="0">
                <a:solidFill>
                  <a:schemeClr val="dk1"/>
                </a:solidFill>
                <a:latin typeface="Times New Roman"/>
                <a:ea typeface="Times New Roman"/>
                <a:cs typeface="Times New Roman"/>
              </a:rPr>
              <a:t>Global E-waste Monitor reports (free)</a:t>
            </a:r>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Bibliography</a:t>
            </a:r>
            <a:endParaRPr/>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gn="l">
              <a:spcBef>
                <a:spcPts val="0"/>
              </a:spcBef>
              <a:spcAft>
                <a:spcPts val="0"/>
              </a:spcAft>
              <a:buNone/>
            </a:pPr>
            <a:r>
              <a:rPr lang="en-US" sz="2800" b="1" i="0" dirty="0">
                <a:solidFill>
                  <a:srgbClr val="1F3864"/>
                </a:solidFill>
                <a:latin typeface="Times New Roman"/>
                <a:ea typeface="Times New Roman"/>
                <a:cs typeface="Times New Roman"/>
              </a:rPr>
              <a:t>Books</a:t>
            </a:r>
          </a:p>
          <a:p>
            <a:pPr marL="285750" indent="-285750" algn="l">
              <a:spcBef>
                <a:spcPts val="500"/>
              </a:spcBef>
              <a:spcAft>
                <a:spcPts val="0"/>
              </a:spcAft>
              <a:buClr>
                <a:schemeClr val="dk1"/>
              </a:buClr>
              <a:buSzPct val="100000"/>
              <a:buFont typeface="Arial"/>
              <a:buChar char="•"/>
            </a:pPr>
            <a:r>
              <a:rPr lang="en-US" sz="2300" b="0" i="0" dirty="0">
                <a:solidFill>
                  <a:schemeClr val="dk1"/>
                </a:solidFill>
                <a:latin typeface="Times New Roman"/>
                <a:ea typeface="Times New Roman"/>
                <a:cs typeface="Times New Roman"/>
              </a:rPr>
              <a:t>Electronic Waste Management – R. E. Hester and R. M. Harrison (eds.), Royal Society of Chemistry, 2009.</a:t>
            </a:r>
          </a:p>
          <a:p>
            <a:pPr marL="285750" indent="-285750" algn="l">
              <a:spcBef>
                <a:spcPts val="500"/>
              </a:spcBef>
              <a:spcAft>
                <a:spcPts val="0"/>
              </a:spcAft>
              <a:buClr>
                <a:schemeClr val="dk1"/>
              </a:buClr>
              <a:buSzPct val="100000"/>
              <a:buFont typeface="Arial"/>
              <a:buChar char="•"/>
            </a:pPr>
            <a:r>
              <a:rPr lang="en-US" sz="2300" b="0" i="0" dirty="0">
                <a:solidFill>
                  <a:schemeClr val="dk1"/>
                </a:solidFill>
                <a:latin typeface="Times New Roman"/>
                <a:ea typeface="Times New Roman"/>
                <a:cs typeface="Times New Roman"/>
              </a:rPr>
              <a:t>E-Waste: Implications, Regulations and Management in India – Rakesh Johri, TERI Press, 2008.</a:t>
            </a:r>
          </a:p>
          <a:p>
            <a:pPr marL="0" indent="0" algn="l">
              <a:spcBef>
                <a:spcPts val="1000"/>
              </a:spcBef>
              <a:spcAft>
                <a:spcPts val="0"/>
              </a:spcAft>
              <a:buNone/>
            </a:pPr>
            <a:r>
              <a:rPr lang="en-US" sz="2800" b="1" i="0" dirty="0">
                <a:solidFill>
                  <a:srgbClr val="1F3864"/>
                </a:solidFill>
                <a:latin typeface="Times New Roman"/>
                <a:ea typeface="Times New Roman"/>
                <a:cs typeface="Times New Roman"/>
              </a:rPr>
              <a:t>Websites</a:t>
            </a:r>
          </a:p>
          <a:p>
            <a:pPr marL="285750" indent="-285750" algn="l">
              <a:spcBef>
                <a:spcPts val="500"/>
              </a:spcBef>
              <a:spcAft>
                <a:spcPts val="0"/>
              </a:spcAft>
              <a:buClr>
                <a:schemeClr val="dk1"/>
              </a:buClr>
              <a:buSzPct val="100000"/>
              <a:buFont typeface="Arial"/>
              <a:buChar char="•"/>
            </a:pPr>
            <a:r>
              <a:rPr lang="en-US" sz="2300" b="0" i="0" dirty="0">
                <a:solidFill>
                  <a:schemeClr val="dk1"/>
                </a:solidFill>
                <a:latin typeface="Times New Roman"/>
                <a:ea typeface="Times New Roman"/>
                <a:cs typeface="Times New Roman"/>
              </a:rPr>
              <a:t>https://cpcb.nic.in (Central Pollution Control Board)</a:t>
            </a:r>
          </a:p>
          <a:p>
            <a:pPr marL="285750" indent="-285750" algn="l">
              <a:spcBef>
                <a:spcPts val="500"/>
              </a:spcBef>
              <a:spcAft>
                <a:spcPts val="0"/>
              </a:spcAft>
              <a:buClr>
                <a:schemeClr val="dk1"/>
              </a:buClr>
              <a:buSzPct val="100000"/>
              <a:buFont typeface="Arial"/>
              <a:buChar char="•"/>
            </a:pPr>
            <a:r>
              <a:rPr lang="en-US" sz="2300" b="0" i="0" dirty="0">
                <a:solidFill>
                  <a:schemeClr val="dk1"/>
                </a:solidFill>
                <a:latin typeface="Times New Roman"/>
                <a:ea typeface="Times New Roman"/>
                <a:cs typeface="Times New Roman"/>
              </a:rPr>
              <a:t>https://ewastemonitor.info (Global E-waste Monitor)</a:t>
            </a:r>
          </a:p>
          <a:p>
            <a:pPr marL="285750" indent="-285750" algn="l">
              <a:spcBef>
                <a:spcPts val="500"/>
              </a:spcBef>
              <a:spcAft>
                <a:spcPts val="0"/>
              </a:spcAft>
              <a:buClr>
                <a:schemeClr val="dk1"/>
              </a:buClr>
              <a:buSzPct val="100000"/>
              <a:buFont typeface="Arial"/>
              <a:buChar char="•"/>
            </a:pPr>
            <a:r>
              <a:rPr lang="en-US" sz="2300" b="0" i="0" dirty="0">
                <a:solidFill>
                  <a:schemeClr val="dk1"/>
                </a:solidFill>
                <a:latin typeface="Times New Roman"/>
                <a:ea typeface="Times New Roman"/>
                <a:cs typeface="Times New Roman"/>
              </a:rPr>
              <a:t>https://en.wikipedia.org/wiki/Electronic_waste</a:t>
            </a:r>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References </a:t>
            </a:r>
            <a:endParaRPr dirty="0"/>
          </a:p>
        </p:txBody>
      </p:sp>
      <p:sp>
        <p:nvSpPr>
          <p:cNvPr id="609" name="Google Shape;609;p28"/>
          <p:cNvSpPr txBox="1">
            <a:spLocks noGrp="1"/>
          </p:cNvSpPr>
          <p:nvPr>
            <p:ph type="body" idx="1"/>
          </p:nvPr>
        </p:nvSpPr>
        <p:spPr>
          <a:xfrm>
            <a:off x="456178" y="138745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lnSpcReduction="10000"/>
          </a:bodyPr>
          <a:lstStyle/>
          <a:p>
            <a:pPr marL="457200" indent="-457200" algn="l">
              <a:spcBef>
                <a:spcPts val="0"/>
              </a:spcBef>
              <a:spcAft>
                <a:spcPts val="0"/>
              </a:spcAft>
              <a:buNone/>
            </a:pPr>
            <a:r>
              <a:rPr lang="en-US" sz="1500" b="0" i="0">
                <a:solidFill>
                  <a:schemeClr val="dk1"/>
                </a:solidFill>
                <a:latin typeface="Times New Roman"/>
                <a:ea typeface="Times New Roman"/>
                <a:cs typeface="Times New Roman"/>
              </a:rPr>
              <a:t>[1]	C. P. Baldé, V. Forti, V. Gray, R. Kuehr, and P. Stegmann, "The Global E-waste Monitor 2017: Quantities, Flows and Resources," United Nations University, ITU and ISWA, Bonn/Geneva/Vienna, 2017.</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[2]	V. Forti, C. P. Baldé, R. Kuehr, and G. Bel, "The Global E-waste Monitor 2020: Quantities, Flows and the Circular Economy Potential," UNU, ITU and ISWA, Bonn/Geneva/Rotterdam, 2020.</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[3]	R. Widmer, H. Oswald-Krapf, D. Sinha-Khetriwal, M. Schnellmann, and H. Böni, "Global perspectives on e-waste," Environ. Impact Assess. Rev., vol. 25, no. 5, pp. 436–458, 2005.</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[4]	B. H. Robinson, "E-waste: An assessment of global production and environmental impacts," Sci. Total Environ., vol. 408, no. 2, pp. 183–191, 2009.</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[5]	P. Kiddee, R. Naidu, and M. H. Wong, "Electronic waste management approaches: An overview," Waste Manag., vol. 33, no. 5, pp. 1237–1250, 2013.</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[6]	M. Heacock et al., "E-waste and harm to vulnerable populations: A growing global problem," Environ. Health Perspect., vol. 124, no. 5, pp. 550–555, 2016.</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[7]	A. Borthakur and P. Singh, "Electronic waste in India: Problems and policies," Int. J. Environ. Sci., vol. 3, no. 1, pp. 353–362, 2012.</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[8]	Ministry of Environment, Forest and Climate Change, "E-Waste (Management) Rules, 2016," Government of India, 2016.</a:t>
            </a:r>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References </a:t>
            </a:r>
            <a:endParaRPr dirty="0"/>
          </a:p>
        </p:txBody>
      </p:sp>
      <p:sp>
        <p:nvSpPr>
          <p:cNvPr id="609" name="Google Shape;609;p28"/>
          <p:cNvSpPr txBox="1">
            <a:spLocks noGrp="1"/>
          </p:cNvSpPr>
          <p:nvPr>
            <p:ph type="body" idx="1"/>
          </p:nvPr>
        </p:nvSpPr>
        <p:spPr>
          <a:xfrm>
            <a:off x="456178" y="138745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57200" indent="-457200" algn="l">
              <a:spcBef>
                <a:spcPts val="0"/>
              </a:spcBef>
              <a:spcAft>
                <a:spcPts val="0"/>
              </a:spcAft>
              <a:buNone/>
            </a:pPr>
            <a:r>
              <a:rPr lang="en-US" sz="1500" b="0" i="0">
                <a:solidFill>
                  <a:schemeClr val="dk1"/>
                </a:solidFill>
                <a:latin typeface="Times New Roman"/>
                <a:ea typeface="Times New Roman"/>
                <a:cs typeface="Times New Roman"/>
              </a:rPr>
              <a:t>[9]	F. O. Ongondo, I. D. Williams, and T. J. Cherrett, "How are WEEE doing? A global review of the management of electrical and electronic wastes," Waste Manag., vol. 31, no. 4, pp. 714–730, 2011.</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[10]	B. Tansel, "From electronic consumer products to e-wastes: Global outlook, waste quantities, recycling challenges," Environ. Int., vol. 98, pp. 35–45, 2017.</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[11]	P. K. Awasthi, X. Zeng, and J. Li, "Environmental pollution of electronic waste recycling in India: A critical review," Environ. Pollut., vol. 211, pp. 259–270, 2016.</a:t>
            </a:r>
          </a:p>
          <a:p>
            <a:pPr marL="457200" indent="-457200" algn="l">
              <a:spcBef>
                <a:spcPts val="0"/>
              </a:spcBef>
              <a:spcAft>
                <a:spcPts val="0"/>
              </a:spcAft>
              <a:buNone/>
            </a:pPr>
            <a:r>
              <a:rPr lang="en-US" sz="1500" b="0" i="0">
                <a:solidFill>
                  <a:schemeClr val="dk1"/>
                </a:solidFill>
                <a:latin typeface="Times New Roman"/>
                <a:ea typeface="Times New Roman"/>
                <a:cs typeface="Times New Roman"/>
              </a:rPr>
              <a:t>[12]	Ministry of Environment, Forest and Climate Change, "E-Waste (Management) Rules, 2022," Government of India, 2022.</a:t>
            </a:r>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a:solidFill>
                  <a:srgbClr val="262626"/>
                </a:solidFill>
                <a:latin typeface="Times New Roman"/>
                <a:ea typeface="Times New Roman"/>
                <a:cs typeface="Times New Roman"/>
                <a:sym typeface="Times New Roman"/>
              </a:rPr>
              <a:t>Thank you</a:t>
            </a:r>
            <a:endParaRP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2332</Words>
  <Application>Microsoft Office PowerPoint</Application>
  <PresentationFormat>On-screen Show (4:3)</PresentationFormat>
  <Paragraphs>285</Paragraphs>
  <Slides>22</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PowerPoint Presentation</vt:lpstr>
      <vt:lpstr>Contents</vt:lpstr>
      <vt:lpstr>Abstract</vt:lpstr>
      <vt:lpstr>1. Introduction</vt:lpstr>
      <vt:lpstr>2. Literature Survey </vt:lpstr>
      <vt:lpstr>2. Literature Survey </vt:lpstr>
      <vt:lpstr>3. Information to seminar topic</vt:lpstr>
      <vt:lpstr>3.1 How we find fake websites</vt:lpstr>
      <vt:lpstr>3.2 How our system works</vt:lpstr>
      <vt:lpstr>3.3 Machine Learning used</vt:lpstr>
      <vt:lpstr>4. Advantages / Disadvantages</vt:lpstr>
      <vt:lpstr>5. Conclusion</vt:lpstr>
      <vt:lpstr>6. Project Initiation</vt:lpstr>
      <vt:lpstr>6.1 Description of problem statement</vt:lpstr>
      <vt:lpstr>6.2 Scope and objectives</vt:lpstr>
      <vt:lpstr>6.3 Stake holder</vt:lpstr>
      <vt:lpstr>6.4 Seminar execution plan</vt:lpstr>
      <vt:lpstr>6.5 Platform / Equipment / Resources</vt:lpstr>
      <vt:lpstr>Bibliography</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Manish Patil</cp:lastModifiedBy>
  <cp:revision>1</cp:revision>
  <dcterms:modified xsi:type="dcterms:W3CDTF">2026-10-19T05:41:40Z</dcterms:modified>
</cp:coreProperties>
</file>